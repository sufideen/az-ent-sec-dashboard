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having me. Over the next few minutes I'll walk you through a platform I designed and built myself: a private Kubernetes cluster on Azure, deployed through a pipeline with no stored passwords. I'll show you the design, and I'll also show you the day it broke, because that is where I learned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sentence: it's a website running on Kubernetes that I locked down properly. Two environments, dev and prod. The API server has no public address, and nothing in the pipeline holds a password or key. I'll show you proof of both environments later, from the live Azure portal and the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 visitor's request from the top. It arrives at the Application Gateway, where the WAF filters it and TLS ends. The Gateway forwards to pods in the AKS cluster. I split the cluster into a system pool that only runs Azure's own add-ons and a user pool for my app, which autoscales. Underneath sit two private services: the container registry that holds my images and Key Vault that holds the TLS certificate. Neither is reachable from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not a Kubernetes person, read this as a checklist of what I configured. The two I care about most are the default-deny network policy, which means pods can't talk to each other or out unless I say so, and the container settings: non-root, read-only filesystem, all Linux capabilities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decisions, all made up front rather than bolted on. The one people ask about most is the second: my pipeline logs into Azure with short-lived federated tokens, so there is no client secret in GitHub to steal or rotate. The same idea applies to the registry, Key Vault and the Gateway: they all use managed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from a code change to a running pod. The design problem I had to solve is that a private cluster can't be reached from a normal build runner. I used command invoke so the pipeline can still deploy without opening any network path. Dev deploys automatically, and prod waits for a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I'm most glad to show. After I deployed prod, the pods were stuck and I didn't spot it for a day. Fixing it meant peeling back five separate problems, and each fix exposed the next. The first was a placeholder I forgot to patch in prod's config. The last was a manual step I took mid-recovery that skipped the pipeline's image substitution. What I took from it: put a check on pod readiness in the pipeline, and don't do manual applies during a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glossary so nobody gets lost. If you only remember three: a pod is one running copy of the app, a Deployment keeps N pods alive, and an Ingress is a routing rule that the Application Gateway turns into real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only a lab. I'd use this same pattern for a company website with an availability target, for internal line-of-business apps that need a public front door, and as a reference for clients whose procurement teams ask hard security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want you to take my word for it. On the left is the real output of kubectl get nodes against prod, run the way my pipeline runs it, through Azure and not over a VPN. Below it is the Azure portal showing the dev and prod resource groups. The full set of evidence is in the repository, and everything here has been cropped so no account details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 can design a private, zero-secret Kubernetes platform on Azure, automate its delivery, and when it breaks in production, work through it methodically. The repository has everything, including the incident write-up. I'm happy to take questions, and to go deeper on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591556" y="594360"/>
            <a:ext cx="1005840" cy="1005840"/>
          </a:xfrm>
          <a:prstGeom prst="ellipse">
            <a:avLst/>
          </a:prstGeom>
          <a:solidFill>
            <a:srgbClr val="151B4A"/>
          </a:solidFill>
          <a:ln/>
        </p:spPr>
      </p:sp>
      <p:pic>
        <p:nvPicPr>
          <p:cNvPr id="3" name="Image 0" descr="preencoded.png">    </p:cNvPr>
          <p:cNvPicPr>
            <a:picLocks noChangeAspect="1"/>
          </p:cNvPicPr>
          <p:nvPr/>
        </p:nvPicPr>
        <p:blipFill>
          <a:blip r:embed="rId1"/>
          <a:stretch>
            <a:fillRect/>
          </a:stretch>
        </p:blipFill>
        <p:spPr>
          <a:xfrm>
            <a:off x="5817870" y="820674"/>
            <a:ext cx="553212" cy="553212"/>
          </a:xfrm>
          <a:prstGeom prst="rect">
            <a:avLst/>
          </a:prstGeom>
        </p:spPr>
      </p:pic>
      <p:sp>
        <p:nvSpPr>
          <p:cNvPr id="4" name="Text 1"/>
          <p:cNvSpPr txBox="1"/>
          <p:nvPr/>
        </p:nvSpPr>
        <p:spPr>
          <a:xfrm>
            <a:off x="731520" y="1965960"/>
            <a:ext cx="10725912" cy="10058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SECURE KUBERNETES ON AZURE</a:t>
            </a:r>
            <a:endParaRPr lang="en-US" sz="4000" dirty="0"/>
          </a:p>
        </p:txBody>
      </p:sp>
      <p:sp>
        <p:nvSpPr>
          <p:cNvPr id="5" name="Text 2"/>
          <p:cNvSpPr txBox="1"/>
          <p:nvPr/>
        </p:nvSpPr>
        <p:spPr>
          <a:xfrm>
            <a:off x="1188720" y="3063240"/>
            <a:ext cx="9811512" cy="822960"/>
          </a:xfrm>
          <a:prstGeom prst="rect">
            <a:avLst/>
          </a:prstGeom>
          <a:noFill/>
          <a:ln/>
        </p:spPr>
        <p:txBody>
          <a:bodyPr wrap="square" rtlCol="0" anchor="ctr"/>
          <a:lstStyle/>
          <a:p>
            <a:pPr algn="ctr" indent="0" marL="0">
              <a:lnSpc>
                <a:spcPct val="125000"/>
              </a:lnSpc>
              <a:buNone/>
            </a:pPr>
            <a:r>
              <a:rPr lang="en-US" sz="1700" dirty="0">
                <a:solidFill>
                  <a:srgbClr val="CADCFC"/>
                </a:solidFill>
                <a:latin typeface="Calibri" pitchFamily="34" charset="0"/>
                <a:ea typeface="Calibri" pitchFamily="34" charset="-122"/>
                <a:cs typeface="Calibri" pitchFamily="34" charset="-120"/>
              </a:rPr>
              <a:t>How I designed, deployed, broke, diagnosed and fixed</a:t>
            </a:r>
            <a:endParaRPr lang="en-US" sz="1700" dirty="0"/>
          </a:p>
          <a:p>
            <a:pPr algn="ctr" indent="0" marL="0">
              <a:lnSpc>
                <a:spcPct val="125000"/>
              </a:lnSpc>
              <a:buNone/>
            </a:pPr>
            <a:r>
              <a:rPr lang="en-US" sz="1700" dirty="0">
                <a:solidFill>
                  <a:srgbClr val="CADCFC"/>
                </a:solidFill>
                <a:latin typeface="Calibri" pitchFamily="34" charset="0"/>
                <a:ea typeface="Calibri" pitchFamily="34" charset="-122"/>
                <a:cs typeface="Calibri" pitchFamily="34" charset="-120"/>
              </a:rPr>
              <a:t>a private AKS platform on real Azure infrastructure</a:t>
            </a:r>
            <a:endParaRPr lang="en-US" sz="1700" dirty="0"/>
          </a:p>
        </p:txBody>
      </p:sp>
      <p:sp>
        <p:nvSpPr>
          <p:cNvPr id="6" name="Shape 3"/>
          <p:cNvSpPr/>
          <p:nvPr/>
        </p:nvSpPr>
        <p:spPr>
          <a:xfrm>
            <a:off x="4539996" y="4160520"/>
            <a:ext cx="3108960" cy="502920"/>
          </a:xfrm>
          <a:prstGeom prst="rect">
            <a:avLst>
              <a:gd name="adj" fmla="val 50909"/>
            </a:avLst>
          </a:prstGeom>
          <a:solidFill>
            <a:srgbClr val="151B4A"/>
          </a:solidFill>
          <a:ln w="12700">
            <a:solidFill>
              <a:srgbClr val="00D9C0"/>
            </a:solidFill>
            <a:prstDash val="solid"/>
          </a:ln>
        </p:spPr>
      </p:sp>
      <p:sp>
        <p:nvSpPr>
          <p:cNvPr id="7" name="Text 4"/>
          <p:cNvSpPr txBox="1"/>
          <p:nvPr/>
        </p:nvSpPr>
        <p:spPr>
          <a:xfrm>
            <a:off x="4539996" y="4160520"/>
            <a:ext cx="3108960" cy="502920"/>
          </a:xfrm>
          <a:prstGeom prst="rect">
            <a:avLst/>
          </a:prstGeom>
          <a:noFill/>
          <a:ln/>
        </p:spPr>
        <p:txBody>
          <a:bodyPr wrap="square" rtlCol="0" anchor="ctr"/>
          <a:lstStyle/>
          <a:p>
            <a:pPr algn="ctr" indent="0" marL="0">
              <a:buNone/>
            </a:pPr>
            <a:r>
              <a:rPr lang="en-US" sz="1100" b="1" spc="100" kern="0" dirty="0">
                <a:solidFill>
                  <a:srgbClr val="00D9C0"/>
                </a:solidFill>
                <a:latin typeface="Calibri" pitchFamily="34" charset="0"/>
                <a:ea typeface="Calibri" pitchFamily="34" charset="-122"/>
                <a:cs typeface="Calibri" pitchFamily="34" charset="-120"/>
              </a:rPr>
              <a:t>DEV + PROD  ·  BOTH VERIFIED LIVE</a:t>
            </a:r>
            <a:endParaRPr lang="en-US" sz="1100" dirty="0"/>
          </a:p>
        </p:txBody>
      </p:sp>
      <p:sp>
        <p:nvSpPr>
          <p:cNvPr id="8" name="Text 5"/>
          <p:cNvSpPr txBox="1"/>
          <p:nvPr/>
        </p:nvSpPr>
        <p:spPr>
          <a:xfrm>
            <a:off x="731520" y="6172200"/>
            <a:ext cx="10725912" cy="365760"/>
          </a:xfrm>
          <a:prstGeom prst="rect">
            <a:avLst/>
          </a:prstGeom>
          <a:noFill/>
          <a:ln/>
        </p:spPr>
        <p:txBody>
          <a:bodyPr wrap="square" rtlCol="0" anchor="ctr"/>
          <a:lstStyle/>
          <a:p>
            <a:pPr algn="ctr" indent="0" marL="0">
              <a:buNone/>
            </a:pPr>
            <a:r>
              <a:rPr lang="en-US" sz="1100" dirty="0">
                <a:solidFill>
                  <a:srgbClr val="8891C0"/>
                </a:solidFill>
                <a:latin typeface="Calibri" pitchFamily="34" charset="0"/>
                <a:ea typeface="Calibri" pitchFamily="34" charset="-122"/>
                <a:cs typeface="Calibri" pitchFamily="34" charset="-120"/>
              </a:rPr>
              <a:t>Presented by Sufyan Deen-Gabisi   ·   github.com/sufideen/az-ent-sec-dashboard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What I Built</a:t>
            </a:r>
            <a:endParaRPr lang="en-US" sz="3200" dirty="0"/>
          </a:p>
        </p:txBody>
      </p:sp>
      <p:sp>
        <p:nvSpPr>
          <p:cNvPr id="3" name="Text 1"/>
          <p:cNvSpPr txBox="1"/>
          <p:nvPr/>
        </p:nvSpPr>
        <p:spPr>
          <a:xfrm>
            <a:off x="548640" y="1143000"/>
            <a:ext cx="11064240" cy="822960"/>
          </a:xfrm>
          <a:prstGeom prst="rect">
            <a:avLst/>
          </a:prstGeom>
          <a:noFill/>
          <a:ln/>
        </p:spPr>
        <p:txBody>
          <a:bodyPr wrap="square" rtlCol="0" anchor="ctr"/>
          <a:lstStyle/>
          <a:p>
            <a:pPr indent="0" marL="0">
              <a:lnSpc>
                <a:spcPct val="125000"/>
              </a:lnSpc>
              <a:buNone/>
            </a:pPr>
            <a:r>
              <a:rPr lang="en-US" sz="1450" dirty="0">
                <a:solidFill>
                  <a:srgbClr val="5C6B8A"/>
                </a:solidFill>
                <a:latin typeface="Calibri" pitchFamily="34" charset="0"/>
                <a:ea typeface="Calibri" pitchFamily="34" charset="-122"/>
                <a:cs typeface="Calibri" pitchFamily="34" charset="-120"/>
              </a:rPr>
              <a:t>I built a containerized web application on a private Azure Kubernetes Service cluster. It sits behind a WAF-enabled Application Gateway, pulls images from a private container registry, and is deployed by GitHub Actions using OIDC, so there are no long-lived credentials anywhere in the pipeline.</a:t>
            </a:r>
            <a:endParaRPr lang="en-US" sz="1450" dirty="0"/>
          </a:p>
        </p:txBody>
      </p:sp>
      <p:sp>
        <p:nvSpPr>
          <p:cNvPr id="4" name="Shape 2"/>
          <p:cNvSpPr/>
          <p:nvPr/>
        </p:nvSpPr>
        <p:spPr>
          <a:xfrm>
            <a:off x="498348" y="2331720"/>
            <a:ext cx="2606040" cy="2331720"/>
          </a:xfrm>
          <a:prstGeom prst="roundRect">
            <a:avLst>
              <a:gd name="adj" fmla="val 4706"/>
            </a:avLst>
          </a:prstGeom>
          <a:solidFill>
            <a:srgbClr val="F4F7FE"/>
          </a:solidFill>
          <a:ln/>
          <a:effectLst>
            <a:outerShdw sx="100000" sy="100000" kx="0" ky="0" algn="bl" rotWithShape="0" blurRad="76200" dist="38100" dir="5400000">
              <a:srgbClr val="1E2761">
                <a:alpha val="12000"/>
              </a:srgbClr>
            </a:outerShdw>
          </a:effectLst>
        </p:spPr>
      </p:sp>
      <p:sp>
        <p:nvSpPr>
          <p:cNvPr id="5" name="Shape 3"/>
          <p:cNvSpPr/>
          <p:nvPr/>
        </p:nvSpPr>
        <p:spPr>
          <a:xfrm>
            <a:off x="1435608" y="2651760"/>
            <a:ext cx="731520" cy="73152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600200" y="2816352"/>
            <a:ext cx="402336" cy="402336"/>
          </a:xfrm>
          <a:prstGeom prst="rect">
            <a:avLst/>
          </a:prstGeom>
        </p:spPr>
      </p:pic>
      <p:sp>
        <p:nvSpPr>
          <p:cNvPr id="7" name="Text 4"/>
          <p:cNvSpPr txBox="1"/>
          <p:nvPr/>
        </p:nvSpPr>
        <p:spPr>
          <a:xfrm>
            <a:off x="589788" y="3520440"/>
            <a:ext cx="2423160" cy="50292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8" name="Text 5"/>
          <p:cNvSpPr txBox="1"/>
          <p:nvPr/>
        </p:nvSpPr>
        <p:spPr>
          <a:xfrm>
            <a:off x="635508" y="4023360"/>
            <a:ext cx="2331720" cy="548640"/>
          </a:xfrm>
          <a:prstGeom prst="rect">
            <a:avLst/>
          </a:prstGeom>
          <a:noFill/>
          <a:ln/>
        </p:spPr>
        <p:txBody>
          <a:bodyPr wrap="square" rtlCol="0" anchor="ctr"/>
          <a:lstStyle/>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Independent</a:t>
            </a:r>
            <a:endParaRPr lang="en-US" sz="1150" dirty="0"/>
          </a:p>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environments</a:t>
            </a:r>
            <a:endParaRPr lang="en-US" sz="1150" dirty="0"/>
          </a:p>
        </p:txBody>
      </p:sp>
      <p:sp>
        <p:nvSpPr>
          <p:cNvPr id="9" name="Shape 6"/>
          <p:cNvSpPr/>
          <p:nvPr/>
        </p:nvSpPr>
        <p:spPr>
          <a:xfrm>
            <a:off x="3360420" y="2331720"/>
            <a:ext cx="2606040" cy="2331720"/>
          </a:xfrm>
          <a:prstGeom prst="roundRect">
            <a:avLst>
              <a:gd name="adj" fmla="val 4706"/>
            </a:avLst>
          </a:prstGeom>
          <a:solidFill>
            <a:srgbClr val="F4F7FE"/>
          </a:solidFill>
          <a:ln/>
          <a:effectLst>
            <a:outerShdw sx="100000" sy="100000" kx="0" ky="0" algn="bl" rotWithShape="0" blurRad="76200" dist="38100" dir="5400000">
              <a:srgbClr val="1E2761">
                <a:alpha val="12000"/>
              </a:srgbClr>
            </a:outerShdw>
          </a:effectLst>
        </p:spPr>
      </p:sp>
      <p:sp>
        <p:nvSpPr>
          <p:cNvPr id="10" name="Shape 7"/>
          <p:cNvSpPr/>
          <p:nvPr/>
        </p:nvSpPr>
        <p:spPr>
          <a:xfrm>
            <a:off x="4297680" y="2651760"/>
            <a:ext cx="731520" cy="73152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462272" y="2816352"/>
            <a:ext cx="402336" cy="402336"/>
          </a:xfrm>
          <a:prstGeom prst="rect">
            <a:avLst/>
          </a:prstGeom>
        </p:spPr>
      </p:pic>
      <p:sp>
        <p:nvSpPr>
          <p:cNvPr id="12" name="Text 8"/>
          <p:cNvSpPr txBox="1"/>
          <p:nvPr/>
        </p:nvSpPr>
        <p:spPr>
          <a:xfrm>
            <a:off x="3451860" y="3520440"/>
            <a:ext cx="2423160" cy="50292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0</a:t>
            </a:r>
            <a:endParaRPr lang="en-US" sz="2200" dirty="0"/>
          </a:p>
        </p:txBody>
      </p:sp>
      <p:sp>
        <p:nvSpPr>
          <p:cNvPr id="13" name="Text 9"/>
          <p:cNvSpPr txBox="1"/>
          <p:nvPr/>
        </p:nvSpPr>
        <p:spPr>
          <a:xfrm>
            <a:off x="3497580" y="4023360"/>
            <a:ext cx="2331720" cy="548640"/>
          </a:xfrm>
          <a:prstGeom prst="rect">
            <a:avLst/>
          </a:prstGeom>
          <a:noFill/>
          <a:ln/>
        </p:spPr>
        <p:txBody>
          <a:bodyPr wrap="square" rtlCol="0" anchor="ctr"/>
          <a:lstStyle/>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Stored credentials</a:t>
            </a:r>
            <a:endParaRPr lang="en-US" sz="1150" dirty="0"/>
          </a:p>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in the pipeline</a:t>
            </a:r>
            <a:endParaRPr lang="en-US" sz="1150" dirty="0"/>
          </a:p>
        </p:txBody>
      </p:sp>
      <p:sp>
        <p:nvSpPr>
          <p:cNvPr id="14" name="Shape 10"/>
          <p:cNvSpPr/>
          <p:nvPr/>
        </p:nvSpPr>
        <p:spPr>
          <a:xfrm>
            <a:off x="6222492" y="2331720"/>
            <a:ext cx="2606040" cy="2331720"/>
          </a:xfrm>
          <a:prstGeom prst="roundRect">
            <a:avLst>
              <a:gd name="adj" fmla="val 4706"/>
            </a:avLst>
          </a:prstGeom>
          <a:solidFill>
            <a:srgbClr val="F4F7FE"/>
          </a:solidFill>
          <a:ln/>
          <a:effectLst>
            <a:outerShdw sx="100000" sy="100000" kx="0" ky="0" algn="bl" rotWithShape="0" blurRad="76200" dist="38100" dir="5400000">
              <a:srgbClr val="1E2761">
                <a:alpha val="12000"/>
              </a:srgbClr>
            </a:outerShdw>
          </a:effectLst>
        </p:spPr>
      </p:sp>
      <p:sp>
        <p:nvSpPr>
          <p:cNvPr id="15" name="Shape 11"/>
          <p:cNvSpPr/>
          <p:nvPr/>
        </p:nvSpPr>
        <p:spPr>
          <a:xfrm>
            <a:off x="7159752" y="2651760"/>
            <a:ext cx="731520" cy="731520"/>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24344" y="2816352"/>
            <a:ext cx="402336" cy="402336"/>
          </a:xfrm>
          <a:prstGeom prst="rect">
            <a:avLst/>
          </a:prstGeom>
        </p:spPr>
      </p:pic>
      <p:sp>
        <p:nvSpPr>
          <p:cNvPr id="17" name="Text 12"/>
          <p:cNvSpPr txBox="1"/>
          <p:nvPr/>
        </p:nvSpPr>
        <p:spPr>
          <a:xfrm>
            <a:off x="6313932" y="3520440"/>
            <a:ext cx="2423160" cy="50292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PRIVATE</a:t>
            </a:r>
            <a:endParaRPr lang="en-US" sz="2200" dirty="0"/>
          </a:p>
        </p:txBody>
      </p:sp>
      <p:sp>
        <p:nvSpPr>
          <p:cNvPr id="18" name="Text 13"/>
          <p:cNvSpPr txBox="1"/>
          <p:nvPr/>
        </p:nvSpPr>
        <p:spPr>
          <a:xfrm>
            <a:off x="6359652" y="4023360"/>
            <a:ext cx="2331720" cy="548640"/>
          </a:xfrm>
          <a:prstGeom prst="rect">
            <a:avLst/>
          </a:prstGeom>
          <a:noFill/>
          <a:ln/>
        </p:spPr>
        <p:txBody>
          <a:bodyPr wrap="square" rtlCol="0" anchor="ctr"/>
          <a:lstStyle/>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API server —</a:t>
            </a:r>
            <a:endParaRPr lang="en-US" sz="1150" dirty="0"/>
          </a:p>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no public IP</a:t>
            </a:r>
            <a:endParaRPr lang="en-US" sz="1150" dirty="0"/>
          </a:p>
        </p:txBody>
      </p:sp>
      <p:sp>
        <p:nvSpPr>
          <p:cNvPr id="19" name="Shape 14"/>
          <p:cNvSpPr/>
          <p:nvPr/>
        </p:nvSpPr>
        <p:spPr>
          <a:xfrm>
            <a:off x="9084564" y="2331720"/>
            <a:ext cx="2606040" cy="2331720"/>
          </a:xfrm>
          <a:prstGeom prst="roundRect">
            <a:avLst>
              <a:gd name="adj" fmla="val 4706"/>
            </a:avLst>
          </a:prstGeom>
          <a:solidFill>
            <a:srgbClr val="F4F7FE"/>
          </a:solidFill>
          <a:ln/>
          <a:effectLst>
            <a:outerShdw sx="100000" sy="100000" kx="0" ky="0" algn="bl" rotWithShape="0" blurRad="76200" dist="38100" dir="5400000">
              <a:srgbClr val="1E2761">
                <a:alpha val="12000"/>
              </a:srgbClr>
            </a:outerShdw>
          </a:effectLst>
        </p:spPr>
      </p:sp>
      <p:sp>
        <p:nvSpPr>
          <p:cNvPr id="20" name="Shape 15"/>
          <p:cNvSpPr/>
          <p:nvPr/>
        </p:nvSpPr>
        <p:spPr>
          <a:xfrm>
            <a:off x="10021824" y="2651760"/>
            <a:ext cx="731520" cy="731520"/>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86416" y="2816352"/>
            <a:ext cx="402336" cy="402336"/>
          </a:xfrm>
          <a:prstGeom prst="rect">
            <a:avLst/>
          </a:prstGeom>
        </p:spPr>
      </p:pic>
      <p:sp>
        <p:nvSpPr>
          <p:cNvPr id="22" name="Text 16"/>
          <p:cNvSpPr txBox="1"/>
          <p:nvPr/>
        </p:nvSpPr>
        <p:spPr>
          <a:xfrm>
            <a:off x="9176004" y="3520440"/>
            <a:ext cx="2423160" cy="50292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5-LAYER</a:t>
            </a:r>
            <a:endParaRPr lang="en-US" sz="2200" dirty="0"/>
          </a:p>
        </p:txBody>
      </p:sp>
      <p:sp>
        <p:nvSpPr>
          <p:cNvPr id="23" name="Text 17"/>
          <p:cNvSpPr txBox="1"/>
          <p:nvPr/>
        </p:nvSpPr>
        <p:spPr>
          <a:xfrm>
            <a:off x="9221724" y="4023360"/>
            <a:ext cx="2331720" cy="548640"/>
          </a:xfrm>
          <a:prstGeom prst="rect">
            <a:avLst/>
          </a:prstGeom>
          <a:noFill/>
          <a:ln/>
        </p:spPr>
        <p:txBody>
          <a:bodyPr wrap="square" rtlCol="0" anchor="ctr"/>
          <a:lstStyle/>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Real incident,</a:t>
            </a:r>
            <a:endParaRPr lang="en-US" sz="1150" dirty="0"/>
          </a:p>
          <a:p>
            <a:pPr algn="ctr" indent="0" marL="0">
              <a:lnSpc>
                <a:spcPct val="110000"/>
              </a:lnSpc>
              <a:buNone/>
            </a:pPr>
            <a:r>
              <a:rPr lang="en-US" sz="1150" dirty="0">
                <a:solidFill>
                  <a:srgbClr val="5C6B8A"/>
                </a:solidFill>
                <a:latin typeface="Calibri" pitchFamily="34" charset="0"/>
                <a:ea typeface="Calibri" pitchFamily="34" charset="-122"/>
                <a:cs typeface="Calibri" pitchFamily="34" charset="-120"/>
              </a:rPr>
              <a:t>diagnosed live</a:t>
            </a:r>
            <a:endParaRPr lang="en-US" sz="1150" dirty="0"/>
          </a:p>
        </p:txBody>
      </p:sp>
      <p:sp>
        <p:nvSpPr>
          <p:cNvPr id="24" name="Text 18"/>
          <p:cNvSpPr txBox="1"/>
          <p:nvPr/>
        </p:nvSpPr>
        <p:spPr>
          <a:xfrm>
            <a:off x="548640" y="5074920"/>
            <a:ext cx="11064240" cy="457200"/>
          </a:xfrm>
          <a:prstGeom prst="rect">
            <a:avLst/>
          </a:prstGeom>
          <a:noFill/>
          <a:ln/>
        </p:spPr>
        <p:txBody>
          <a:bodyPr wrap="square"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I verified both environments end to end on 2026-09-18: real pods, real TLS, a real public IP and a real HTTP 200.</a:t>
            </a:r>
            <a:endParaRPr lang="en-US" sz="1250" dirty="0"/>
          </a:p>
        </p:txBody>
      </p:sp>
      <p:sp>
        <p:nvSpPr>
          <p:cNvPr id="26" name="Text 1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C6B8A"/>
                </a:solidFill>
                <a:latin typeface="Calibri" pitchFamily="34" charset="0"/>
                <a:ea typeface="Calibri" pitchFamily="34" charset="-122"/>
                <a:cs typeface="Calibri" pitchFamily="34" charset="-120"/>
              </a:rPr>
              <a:t>Secure Kubernetes on Azure — Portfolio Showcase</a:t>
            </a:r>
            <a:endParaRPr lang="en-US" sz="900" dirty="0"/>
          </a:p>
        </p:txBody>
      </p:sp>
      <p:sp>
        <p:nvSpPr>
          <p:cNvPr id="27"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54864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Architecture: how a request travels</a:t>
            </a:r>
            <a:endParaRPr lang="en-US" sz="3000" dirty="0"/>
          </a:p>
        </p:txBody>
      </p:sp>
      <p:sp>
        <p:nvSpPr>
          <p:cNvPr id="3" name="Shape 1"/>
          <p:cNvSpPr/>
          <p:nvPr/>
        </p:nvSpPr>
        <p:spPr>
          <a:xfrm>
            <a:off x="5774436" y="1051560"/>
            <a:ext cx="640080" cy="64008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5902452" y="1179576"/>
            <a:ext cx="384048" cy="384048"/>
          </a:xfrm>
          <a:prstGeom prst="rect">
            <a:avLst/>
          </a:prstGeom>
        </p:spPr>
      </p:pic>
      <p:sp>
        <p:nvSpPr>
          <p:cNvPr id="5" name="Text 2"/>
          <p:cNvSpPr txBox="1"/>
          <p:nvPr/>
        </p:nvSpPr>
        <p:spPr>
          <a:xfrm>
            <a:off x="5180076" y="1691640"/>
            <a:ext cx="1828800" cy="274320"/>
          </a:xfrm>
          <a:prstGeom prst="rect">
            <a:avLst/>
          </a:prstGeom>
          <a:noFill/>
          <a:ln/>
        </p:spPr>
        <p:txBody>
          <a:bodyPr wrap="square" rtlCol="0" anchor="ctr"/>
          <a:lstStyle/>
          <a:p>
            <a:pPr algn="ctr" indent="0" marL="0">
              <a:buNone/>
            </a:pPr>
            <a:r>
              <a:rPr lang="en-US" sz="1100" dirty="0">
                <a:solidFill>
                  <a:srgbClr val="5C6B8A"/>
                </a:solidFill>
                <a:latin typeface="Calibri" pitchFamily="34" charset="0"/>
                <a:ea typeface="Calibri" pitchFamily="34" charset="-122"/>
                <a:cs typeface="Calibri" pitchFamily="34" charset="-120"/>
              </a:rPr>
              <a:t>Internet</a:t>
            </a:r>
            <a:endParaRPr lang="en-US" sz="1100" dirty="0"/>
          </a:p>
        </p:txBody>
      </p:sp>
      <p:sp>
        <p:nvSpPr>
          <p:cNvPr id="6" name="Shape 3"/>
          <p:cNvSpPr/>
          <p:nvPr/>
        </p:nvSpPr>
        <p:spPr>
          <a:xfrm>
            <a:off x="6094476" y="1691640"/>
            <a:ext cx="0" cy="365760"/>
          </a:xfrm>
          <a:prstGeom prst="line">
            <a:avLst/>
          </a:prstGeom>
          <a:noFill/>
          <a:ln w="25400">
            <a:solidFill>
              <a:srgbClr val="1E2761"/>
            </a:solidFill>
            <a:prstDash val="solid"/>
            <a:tailEnd type="triangle"/>
          </a:ln>
        </p:spPr>
      </p:sp>
      <p:sp>
        <p:nvSpPr>
          <p:cNvPr id="7" name="Shape 4"/>
          <p:cNvSpPr/>
          <p:nvPr/>
        </p:nvSpPr>
        <p:spPr>
          <a:xfrm>
            <a:off x="4174236" y="2057400"/>
            <a:ext cx="3840480" cy="777240"/>
          </a:xfrm>
          <a:prstGeom prst="roundRect">
            <a:avLst>
              <a:gd name="adj" fmla="val 11765"/>
            </a:avLst>
          </a:prstGeom>
          <a:solidFill>
            <a:srgbClr val="1E2761"/>
          </a:solidFill>
          <a:ln/>
        </p:spPr>
      </p:sp>
      <p:sp>
        <p:nvSpPr>
          <p:cNvPr id="8" name="Shape 5"/>
          <p:cNvSpPr/>
          <p:nvPr/>
        </p:nvSpPr>
        <p:spPr>
          <a:xfrm>
            <a:off x="4357116" y="2212848"/>
            <a:ext cx="457200" cy="457200"/>
          </a:xfrm>
          <a:prstGeom prst="ellipse">
            <a:avLst/>
          </a:prstGeom>
          <a:solidFill>
            <a:srgbClr val="151B4A"/>
          </a:solidFill>
          <a:ln/>
        </p:spPr>
      </p:sp>
      <p:pic>
        <p:nvPicPr>
          <p:cNvPr id="9" name="Image 1" descr="preencoded.png">    </p:cNvPr>
          <p:cNvPicPr>
            <a:picLocks noChangeAspect="1"/>
          </p:cNvPicPr>
          <p:nvPr/>
        </p:nvPicPr>
        <p:blipFill>
          <a:blip r:embed="rId2"/>
          <a:stretch>
            <a:fillRect/>
          </a:stretch>
        </p:blipFill>
        <p:spPr>
          <a:xfrm>
            <a:off x="4448556" y="2304288"/>
            <a:ext cx="274320" cy="274320"/>
          </a:xfrm>
          <a:prstGeom prst="rect">
            <a:avLst/>
          </a:prstGeom>
        </p:spPr>
      </p:pic>
      <p:sp>
        <p:nvSpPr>
          <p:cNvPr id="10" name="Text 6"/>
          <p:cNvSpPr txBox="1"/>
          <p:nvPr/>
        </p:nvSpPr>
        <p:spPr>
          <a:xfrm>
            <a:off x="4951476" y="2148840"/>
            <a:ext cx="30175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Application Gateway (WAF_v2)</a:t>
            </a:r>
            <a:endParaRPr lang="en-US" sz="1300" dirty="0"/>
          </a:p>
        </p:txBody>
      </p:sp>
      <p:sp>
        <p:nvSpPr>
          <p:cNvPr id="11" name="Text 7"/>
          <p:cNvSpPr txBox="1"/>
          <p:nvPr/>
        </p:nvSpPr>
        <p:spPr>
          <a:xfrm>
            <a:off x="4951476" y="2404872"/>
            <a:ext cx="3017520" cy="27432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public IP · TLS termination · OWASP ruleset</a:t>
            </a:r>
            <a:endParaRPr lang="en-US" sz="950" dirty="0"/>
          </a:p>
        </p:txBody>
      </p:sp>
      <p:sp>
        <p:nvSpPr>
          <p:cNvPr id="12" name="Shape 8"/>
          <p:cNvSpPr/>
          <p:nvPr/>
        </p:nvSpPr>
        <p:spPr>
          <a:xfrm>
            <a:off x="6094476" y="2834640"/>
            <a:ext cx="0" cy="320040"/>
          </a:xfrm>
          <a:prstGeom prst="line">
            <a:avLst/>
          </a:prstGeom>
          <a:noFill/>
          <a:ln w="25400">
            <a:solidFill>
              <a:srgbClr val="1E2761"/>
            </a:solidFill>
            <a:prstDash val="solid"/>
            <a:tailEnd type="triangle"/>
          </a:ln>
        </p:spPr>
      </p:sp>
      <p:sp>
        <p:nvSpPr>
          <p:cNvPr id="13" name="Text 9"/>
          <p:cNvSpPr txBox="1"/>
          <p:nvPr/>
        </p:nvSpPr>
        <p:spPr>
          <a:xfrm>
            <a:off x="6231636" y="2852928"/>
            <a:ext cx="3291840" cy="365760"/>
          </a:xfrm>
          <a:prstGeom prst="rect">
            <a:avLst/>
          </a:prstGeom>
          <a:noFill/>
          <a:ln/>
        </p:spPr>
        <p:txBody>
          <a:bodyPr wrap="square" rtlCol="0" anchor="ctr"/>
          <a:lstStyle/>
          <a:p>
            <a:pPr indent="0" marL="0">
              <a:buNone/>
            </a:pPr>
            <a:r>
              <a:rPr lang="en-US" sz="850" i="1" dirty="0">
                <a:solidFill>
                  <a:srgbClr val="5C6B8A"/>
                </a:solidFill>
                <a:latin typeface="Calibri" pitchFamily="34" charset="0"/>
                <a:ea typeface="Calibri" pitchFamily="34" charset="-122"/>
                <a:cs typeface="Calibri" pitchFamily="34" charset="-120"/>
              </a:rPr>
              <a:t>AGIC watches Ingress objects, reconfigures the Gateway automatically</a:t>
            </a:r>
            <a:endParaRPr lang="en-US" sz="850" dirty="0"/>
          </a:p>
        </p:txBody>
      </p:sp>
      <p:sp>
        <p:nvSpPr>
          <p:cNvPr id="14" name="Shape 10"/>
          <p:cNvSpPr/>
          <p:nvPr/>
        </p:nvSpPr>
        <p:spPr>
          <a:xfrm>
            <a:off x="1280160" y="3154680"/>
            <a:ext cx="9628632" cy="2148840"/>
          </a:xfrm>
          <a:prstGeom prst="roundRect">
            <a:avLst>
              <a:gd name="adj" fmla="val 4255"/>
            </a:avLst>
          </a:prstGeom>
          <a:solidFill>
            <a:srgbClr val="F4F7FE"/>
          </a:solidFill>
          <a:ln w="19050">
            <a:solidFill>
              <a:srgbClr val="1E2761"/>
            </a:solidFill>
            <a:prstDash val="dash"/>
          </a:ln>
        </p:spPr>
      </p:sp>
      <p:sp>
        <p:nvSpPr>
          <p:cNvPr id="15" name="Text 11"/>
          <p:cNvSpPr txBox="1"/>
          <p:nvPr/>
        </p:nvSpPr>
        <p:spPr>
          <a:xfrm>
            <a:off x="1463040" y="3264408"/>
            <a:ext cx="9262872" cy="320040"/>
          </a:xfrm>
          <a:prstGeom prst="rect">
            <a:avLst/>
          </a:prstGeom>
          <a:noFill/>
          <a:ln/>
        </p:spPr>
        <p:txBody>
          <a:bodyPr wrap="square" rtlCol="0" anchor="ctr"/>
          <a:lstStyle/>
          <a:p>
            <a:pPr indent="0" marL="0">
              <a:buNone/>
            </a:pPr>
            <a:r>
              <a:rPr lang="en-US" sz="1200" b="1" spc="50" kern="0" dirty="0">
                <a:solidFill>
                  <a:srgbClr val="1E2761"/>
                </a:solidFill>
                <a:latin typeface="Calibri" pitchFamily="34" charset="0"/>
                <a:ea typeface="Calibri" pitchFamily="34" charset="-122"/>
                <a:cs typeface="Calibri" pitchFamily="34" charset="-120"/>
              </a:rPr>
              <a:t>AKS CLUSTER  —  PRIVATE API SERVER (no public control-plane IP)</a:t>
            </a:r>
            <a:endParaRPr lang="en-US" sz="1200" dirty="0"/>
          </a:p>
        </p:txBody>
      </p:sp>
      <p:sp>
        <p:nvSpPr>
          <p:cNvPr id="16" name="Shape 12"/>
          <p:cNvSpPr/>
          <p:nvPr/>
        </p:nvSpPr>
        <p:spPr>
          <a:xfrm>
            <a:off x="1920240" y="3703320"/>
            <a:ext cx="3291840" cy="1417320"/>
          </a:xfrm>
          <a:prstGeom prst="roundRect">
            <a:avLst>
              <a:gd name="adj" fmla="val 5161"/>
            </a:avLst>
          </a:prstGeom>
          <a:solidFill>
            <a:srgbClr val="FFFFFF"/>
          </a:solidFill>
          <a:ln w="12700">
            <a:solidFill>
              <a:srgbClr val="9AA7CE"/>
            </a:solidFill>
            <a:prstDash val="solid"/>
          </a:ln>
        </p:spPr>
      </p:sp>
      <p:sp>
        <p:nvSpPr>
          <p:cNvPr id="17" name="Shape 13"/>
          <p:cNvSpPr/>
          <p:nvPr/>
        </p:nvSpPr>
        <p:spPr>
          <a:xfrm>
            <a:off x="2103120" y="3886200"/>
            <a:ext cx="502920" cy="50292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2216277" y="3999357"/>
            <a:ext cx="276606" cy="276606"/>
          </a:xfrm>
          <a:prstGeom prst="rect">
            <a:avLst/>
          </a:prstGeom>
        </p:spPr>
      </p:pic>
      <p:sp>
        <p:nvSpPr>
          <p:cNvPr id="19" name="Text 14"/>
          <p:cNvSpPr txBox="1"/>
          <p:nvPr/>
        </p:nvSpPr>
        <p:spPr>
          <a:xfrm>
            <a:off x="2743200" y="3904488"/>
            <a:ext cx="2286000" cy="274320"/>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System node pool</a:t>
            </a:r>
            <a:endParaRPr lang="en-US" sz="1250" dirty="0"/>
          </a:p>
        </p:txBody>
      </p:sp>
      <p:sp>
        <p:nvSpPr>
          <p:cNvPr id="20" name="Text 15"/>
          <p:cNvSpPr txBox="1"/>
          <p:nvPr/>
        </p:nvSpPr>
        <p:spPr>
          <a:xfrm>
            <a:off x="2103120" y="4480560"/>
            <a:ext cx="2834640" cy="548640"/>
          </a:xfrm>
          <a:prstGeom prst="rect">
            <a:avLst/>
          </a:prstGeom>
          <a:noFill/>
          <a:ln/>
        </p:spPr>
        <p:txBody>
          <a:bodyPr wrap="square" rtlCol="0" anchor="ctr"/>
          <a:lstStyle/>
          <a:p>
            <a:pPr indent="0" marL="0">
              <a:lnSpc>
                <a:spcPct val="120000"/>
              </a:lnSpc>
              <a:buNone/>
            </a:pPr>
            <a:r>
              <a:rPr lang="en-US" sz="1000" dirty="0">
                <a:solidFill>
                  <a:srgbClr val="5C6B8A"/>
                </a:solidFill>
                <a:latin typeface="Calibri" pitchFamily="34" charset="0"/>
                <a:ea typeface="Calibri" pitchFamily="34" charset="-122"/>
                <a:cs typeface="Calibri" pitchFamily="34" charset="-120"/>
              </a:rPr>
              <a:t>mode=System · CriticalAddonsOnly taint</a:t>
            </a:r>
            <a:endParaRPr lang="en-US" sz="1000" dirty="0"/>
          </a:p>
          <a:p>
            <a:pPr indent="0" marL="0">
              <a:lnSpc>
                <a:spcPct val="120000"/>
              </a:lnSpc>
              <a:buNone/>
            </a:pPr>
            <a:r>
              <a:rPr lang="en-US" sz="1000" dirty="0">
                <a:solidFill>
                  <a:srgbClr val="5C6B8A"/>
                </a:solidFill>
                <a:latin typeface="Calibri" pitchFamily="34" charset="0"/>
                <a:ea typeface="Calibri" pitchFamily="34" charset="-122"/>
                <a:cs typeface="Calibri" pitchFamily="34" charset="-120"/>
              </a:rPr>
              <a:t>Add-ons only — no app workloads scheduled here</a:t>
            </a:r>
            <a:endParaRPr lang="en-US" sz="1000" dirty="0"/>
          </a:p>
        </p:txBody>
      </p:sp>
      <p:sp>
        <p:nvSpPr>
          <p:cNvPr id="21" name="Shape 16"/>
          <p:cNvSpPr/>
          <p:nvPr/>
        </p:nvSpPr>
        <p:spPr>
          <a:xfrm>
            <a:off x="5715000" y="3703320"/>
            <a:ext cx="3291840" cy="1417320"/>
          </a:xfrm>
          <a:prstGeom prst="roundRect">
            <a:avLst>
              <a:gd name="adj" fmla="val 5161"/>
            </a:avLst>
          </a:prstGeom>
          <a:solidFill>
            <a:srgbClr val="FFFFFF"/>
          </a:solidFill>
          <a:ln w="19050">
            <a:solidFill>
              <a:srgbClr val="00D9C0"/>
            </a:solidFill>
            <a:prstDash val="solid"/>
          </a:ln>
        </p:spPr>
      </p:sp>
      <p:sp>
        <p:nvSpPr>
          <p:cNvPr id="22" name="Shape 17"/>
          <p:cNvSpPr/>
          <p:nvPr/>
        </p:nvSpPr>
        <p:spPr>
          <a:xfrm>
            <a:off x="5897880" y="3886200"/>
            <a:ext cx="502920" cy="502920"/>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6011037" y="3999357"/>
            <a:ext cx="276606" cy="276606"/>
          </a:xfrm>
          <a:prstGeom prst="rect">
            <a:avLst/>
          </a:prstGeom>
        </p:spPr>
      </p:pic>
      <p:sp>
        <p:nvSpPr>
          <p:cNvPr id="24" name="Text 18"/>
          <p:cNvSpPr txBox="1"/>
          <p:nvPr/>
        </p:nvSpPr>
        <p:spPr>
          <a:xfrm>
            <a:off x="6537960" y="3904488"/>
            <a:ext cx="2377440" cy="274320"/>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User node pool (autoscaling)</a:t>
            </a:r>
            <a:endParaRPr lang="en-US" sz="1250" dirty="0"/>
          </a:p>
        </p:txBody>
      </p:sp>
      <p:sp>
        <p:nvSpPr>
          <p:cNvPr id="25" name="Text 19"/>
          <p:cNvSpPr txBox="1"/>
          <p:nvPr/>
        </p:nvSpPr>
        <p:spPr>
          <a:xfrm>
            <a:off x="5897880" y="4480560"/>
            <a:ext cx="2834640" cy="548640"/>
          </a:xfrm>
          <a:prstGeom prst="rect">
            <a:avLst/>
          </a:prstGeom>
          <a:noFill/>
          <a:ln/>
        </p:spPr>
        <p:txBody>
          <a:bodyPr wrap="square" rtlCol="0" anchor="ctr"/>
          <a:lstStyle/>
          <a:p>
            <a:pPr indent="0" marL="0">
              <a:lnSpc>
                <a:spcPct val="120000"/>
              </a:lnSpc>
              <a:buNone/>
            </a:pPr>
            <a:r>
              <a:rPr lang="en-US" sz="1000" dirty="0">
                <a:solidFill>
                  <a:srgbClr val="5C6B8A"/>
                </a:solidFill>
                <a:latin typeface="Calibri" pitchFamily="34" charset="0"/>
                <a:ea typeface="Calibri" pitchFamily="34" charset="-122"/>
                <a:cs typeface="Calibri" pitchFamily="34" charset="-120"/>
              </a:rPr>
              <a:t>namespace: demo-web · Deployment, 2-5</a:t>
            </a:r>
            <a:endParaRPr lang="en-US" sz="1000" dirty="0"/>
          </a:p>
          <a:p>
            <a:pPr indent="0" marL="0">
              <a:lnSpc>
                <a:spcPct val="120000"/>
              </a:lnSpc>
              <a:buNone/>
            </a:pPr>
            <a:r>
              <a:rPr lang="en-US" sz="1000" dirty="0">
                <a:solidFill>
                  <a:srgbClr val="5C6B8A"/>
                </a:solidFill>
                <a:latin typeface="Calibri" pitchFamily="34" charset="0"/>
                <a:ea typeface="Calibri" pitchFamily="34" charset="-122"/>
                <a:cs typeface="Calibri" pitchFamily="34" charset="-120"/>
              </a:rPr>
              <a:t>replicas via HorizontalPodAutoscaler</a:t>
            </a:r>
            <a:endParaRPr lang="en-US" sz="1000" dirty="0"/>
          </a:p>
        </p:txBody>
      </p:sp>
      <p:sp>
        <p:nvSpPr>
          <p:cNvPr id="26" name="Shape 20"/>
          <p:cNvSpPr/>
          <p:nvPr/>
        </p:nvSpPr>
        <p:spPr>
          <a:xfrm>
            <a:off x="2414016" y="5120640"/>
            <a:ext cx="1760220" cy="411480"/>
          </a:xfrm>
          <a:prstGeom prst="line">
            <a:avLst/>
          </a:prstGeom>
          <a:noFill/>
          <a:ln w="25400">
            <a:solidFill>
              <a:srgbClr val="1E2761"/>
            </a:solidFill>
            <a:prstDash val="solid"/>
            <a:tailEnd type="triangle"/>
          </a:ln>
        </p:spPr>
      </p:sp>
      <p:sp>
        <p:nvSpPr>
          <p:cNvPr id="27" name="Shape 21"/>
          <p:cNvSpPr/>
          <p:nvPr/>
        </p:nvSpPr>
        <p:spPr>
          <a:xfrm>
            <a:off x="8513064" y="5120640"/>
            <a:ext cx="-498348" cy="411480"/>
          </a:xfrm>
          <a:prstGeom prst="line">
            <a:avLst/>
          </a:prstGeom>
          <a:noFill/>
          <a:ln w="25400">
            <a:solidFill>
              <a:srgbClr val="1E2761"/>
            </a:solidFill>
            <a:prstDash val="solid"/>
            <a:tailEnd type="triangle"/>
          </a:ln>
        </p:spPr>
      </p:sp>
      <p:sp>
        <p:nvSpPr>
          <p:cNvPr id="28" name="Shape 22"/>
          <p:cNvSpPr/>
          <p:nvPr/>
        </p:nvSpPr>
        <p:spPr>
          <a:xfrm>
            <a:off x="2619756" y="5532120"/>
            <a:ext cx="3108960" cy="868680"/>
          </a:xfrm>
          <a:prstGeom prst="roundRect">
            <a:avLst>
              <a:gd name="adj" fmla="val 8421"/>
            </a:avLst>
          </a:prstGeom>
          <a:solidFill>
            <a:srgbClr val="1E2761"/>
          </a:solidFill>
          <a:ln/>
        </p:spPr>
      </p:sp>
      <p:sp>
        <p:nvSpPr>
          <p:cNvPr id="29" name="Shape 23"/>
          <p:cNvSpPr/>
          <p:nvPr/>
        </p:nvSpPr>
        <p:spPr>
          <a:xfrm>
            <a:off x="2784348" y="5733288"/>
            <a:ext cx="548640" cy="548640"/>
          </a:xfrm>
          <a:prstGeom prst="ellipse">
            <a:avLst/>
          </a:prstGeom>
          <a:solidFill>
            <a:srgbClr val="151B4A"/>
          </a:solidFill>
          <a:ln/>
        </p:spPr>
      </p:sp>
      <p:pic>
        <p:nvPicPr>
          <p:cNvPr id="30" name="Image 4" descr="preencoded.png">    </p:cNvPr>
          <p:cNvPicPr>
            <a:picLocks noChangeAspect="1"/>
          </p:cNvPicPr>
          <p:nvPr/>
        </p:nvPicPr>
        <p:blipFill>
          <a:blip r:embed="rId5"/>
          <a:stretch>
            <a:fillRect/>
          </a:stretch>
        </p:blipFill>
        <p:spPr>
          <a:xfrm>
            <a:off x="2907792" y="5856732"/>
            <a:ext cx="301752" cy="301752"/>
          </a:xfrm>
          <a:prstGeom prst="rect">
            <a:avLst/>
          </a:prstGeom>
        </p:spPr>
      </p:pic>
      <p:sp>
        <p:nvSpPr>
          <p:cNvPr id="31" name="Text 24"/>
          <p:cNvSpPr txBox="1"/>
          <p:nvPr/>
        </p:nvSpPr>
        <p:spPr>
          <a:xfrm>
            <a:off x="3488436" y="5660136"/>
            <a:ext cx="21031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Container Registry</a:t>
            </a:r>
            <a:endParaRPr lang="en-US" sz="1200" dirty="0"/>
          </a:p>
        </p:txBody>
      </p:sp>
      <p:sp>
        <p:nvSpPr>
          <p:cNvPr id="32" name="Text 25"/>
          <p:cNvSpPr txBox="1"/>
          <p:nvPr/>
        </p:nvSpPr>
        <p:spPr>
          <a:xfrm>
            <a:off x="3488436" y="5952744"/>
            <a:ext cx="2103120" cy="502920"/>
          </a:xfrm>
          <a:prstGeom prst="rect">
            <a:avLst/>
          </a:prstGeom>
          <a:noFill/>
          <a:ln/>
        </p:spPr>
        <p:txBody>
          <a:bodyPr wrap="square" rtlCol="0" anchor="ctr"/>
          <a:lstStyle/>
          <a:p>
            <a:pPr indent="0" marL="0">
              <a:lnSpc>
                <a:spcPct val="115000"/>
              </a:lnSpc>
              <a:buNone/>
            </a:pPr>
            <a:r>
              <a:rPr lang="en-US" sz="900" dirty="0">
                <a:solidFill>
                  <a:srgbClr val="CADCFC"/>
                </a:solidFill>
                <a:latin typeface="Calibri" pitchFamily="34" charset="0"/>
                <a:ea typeface="Calibri" pitchFamily="34" charset="-122"/>
                <a:cs typeface="Calibri" pitchFamily="34" charset="-120"/>
              </a:rPr>
              <a:t>Private endpoint · no admin user</a:t>
            </a:r>
            <a:endParaRPr lang="en-US" sz="900" dirty="0"/>
          </a:p>
          <a:p>
            <a:pPr indent="0" marL="0">
              <a:lnSpc>
                <a:spcPct val="115000"/>
              </a:lnSpc>
              <a:buNone/>
            </a:pPr>
            <a:r>
              <a:rPr lang="en-US" sz="900" dirty="0">
                <a:solidFill>
                  <a:srgbClr val="CADCFC"/>
                </a:solidFill>
                <a:latin typeface="Calibri" pitchFamily="34" charset="0"/>
                <a:ea typeface="Calibri" pitchFamily="34" charset="-122"/>
                <a:cs typeface="Calibri" pitchFamily="34" charset="-120"/>
              </a:rPr>
              <a:t>AcrPull via kubelet identity only</a:t>
            </a:r>
            <a:endParaRPr lang="en-US" sz="900" dirty="0"/>
          </a:p>
        </p:txBody>
      </p:sp>
      <p:sp>
        <p:nvSpPr>
          <p:cNvPr id="33" name="Shape 26"/>
          <p:cNvSpPr/>
          <p:nvPr/>
        </p:nvSpPr>
        <p:spPr>
          <a:xfrm>
            <a:off x="6460236" y="5532120"/>
            <a:ext cx="3108960" cy="868680"/>
          </a:xfrm>
          <a:prstGeom prst="roundRect">
            <a:avLst>
              <a:gd name="adj" fmla="val 8421"/>
            </a:avLst>
          </a:prstGeom>
          <a:solidFill>
            <a:srgbClr val="1E2761"/>
          </a:solidFill>
          <a:ln/>
        </p:spPr>
      </p:sp>
      <p:sp>
        <p:nvSpPr>
          <p:cNvPr id="34" name="Shape 27"/>
          <p:cNvSpPr/>
          <p:nvPr/>
        </p:nvSpPr>
        <p:spPr>
          <a:xfrm>
            <a:off x="6624828" y="5733288"/>
            <a:ext cx="548640" cy="548640"/>
          </a:xfrm>
          <a:prstGeom prst="ellipse">
            <a:avLst/>
          </a:prstGeom>
          <a:solidFill>
            <a:srgbClr val="151B4A"/>
          </a:solidFill>
          <a:ln/>
        </p:spPr>
      </p:sp>
      <p:pic>
        <p:nvPicPr>
          <p:cNvPr id="35" name="Image 5" descr="preencoded.png">    </p:cNvPr>
          <p:cNvPicPr>
            <a:picLocks noChangeAspect="1"/>
          </p:cNvPicPr>
          <p:nvPr/>
        </p:nvPicPr>
        <p:blipFill>
          <a:blip r:embed="rId6"/>
          <a:stretch>
            <a:fillRect/>
          </a:stretch>
        </p:blipFill>
        <p:spPr>
          <a:xfrm>
            <a:off x="6748272" y="5856732"/>
            <a:ext cx="301752" cy="301752"/>
          </a:xfrm>
          <a:prstGeom prst="rect">
            <a:avLst/>
          </a:prstGeom>
        </p:spPr>
      </p:pic>
      <p:sp>
        <p:nvSpPr>
          <p:cNvPr id="36" name="Text 28"/>
          <p:cNvSpPr txBox="1"/>
          <p:nvPr/>
        </p:nvSpPr>
        <p:spPr>
          <a:xfrm>
            <a:off x="7328916" y="5660136"/>
            <a:ext cx="21031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Key Vault</a:t>
            </a:r>
            <a:endParaRPr lang="en-US" sz="1200" dirty="0"/>
          </a:p>
        </p:txBody>
      </p:sp>
      <p:sp>
        <p:nvSpPr>
          <p:cNvPr id="37" name="Text 29"/>
          <p:cNvSpPr txBox="1"/>
          <p:nvPr/>
        </p:nvSpPr>
        <p:spPr>
          <a:xfrm>
            <a:off x="7328916" y="5952744"/>
            <a:ext cx="2103120" cy="502920"/>
          </a:xfrm>
          <a:prstGeom prst="rect">
            <a:avLst/>
          </a:prstGeom>
          <a:noFill/>
          <a:ln/>
        </p:spPr>
        <p:txBody>
          <a:bodyPr wrap="square" rtlCol="0" anchor="ctr"/>
          <a:lstStyle/>
          <a:p>
            <a:pPr indent="0" marL="0">
              <a:lnSpc>
                <a:spcPct val="115000"/>
              </a:lnSpc>
              <a:buNone/>
            </a:pPr>
            <a:r>
              <a:rPr lang="en-US" sz="900" dirty="0">
                <a:solidFill>
                  <a:srgbClr val="CADCFC"/>
                </a:solidFill>
                <a:latin typeface="Calibri" pitchFamily="34" charset="0"/>
                <a:ea typeface="Calibri" pitchFamily="34" charset="-122"/>
                <a:cs typeface="Calibri" pitchFamily="34" charset="-120"/>
              </a:rPr>
              <a:t>RBAC-authorized · private endpoint</a:t>
            </a:r>
            <a:endParaRPr lang="en-US" sz="900" dirty="0"/>
          </a:p>
          <a:p>
            <a:pPr indent="0" marL="0">
              <a:lnSpc>
                <a:spcPct val="115000"/>
              </a:lnSpc>
              <a:buNone/>
            </a:pPr>
            <a:r>
              <a:rPr lang="en-US" sz="900" dirty="0">
                <a:solidFill>
                  <a:srgbClr val="CADCFC"/>
                </a:solidFill>
                <a:latin typeface="Calibri" pitchFamily="34" charset="0"/>
                <a:ea typeface="Calibri" pitchFamily="34" charset="-122"/>
                <a:cs typeface="Calibri" pitchFamily="34" charset="-120"/>
              </a:rPr>
              <a:t>TLS cert synced via CSI driver identity</a:t>
            </a:r>
            <a:endParaRPr lang="en-US" sz="900" dirty="0"/>
          </a:p>
        </p:txBody>
      </p:sp>
      <p:sp>
        <p:nvSpPr>
          <p:cNvPr id="39" name="Text 3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C6B8A"/>
                </a:solidFill>
                <a:latin typeface="Calibri" pitchFamily="34" charset="0"/>
                <a:ea typeface="Calibri" pitchFamily="34" charset="-122"/>
                <a:cs typeface="Calibri" pitchFamily="34" charset="-120"/>
              </a:rPr>
              <a:t>Secure Kubernetes on Azure — Portfolio Showcase</a:t>
            </a:r>
            <a:endParaRPr lang="en-US" sz="900" dirty="0"/>
          </a:p>
        </p:txBody>
      </p:sp>
      <p:sp>
        <p:nvSpPr>
          <p:cNvPr id="40" name="Text 3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54864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Inside the Cluster</a:t>
            </a:r>
            <a:endParaRPr lang="en-US" sz="3000" dirty="0"/>
          </a:p>
        </p:txBody>
      </p:sp>
      <p:sp>
        <p:nvSpPr>
          <p:cNvPr id="3" name="Text 1"/>
          <p:cNvSpPr txBox="1"/>
          <p:nvPr/>
        </p:nvSpPr>
        <p:spPr>
          <a:xfrm>
            <a:off x="548640" y="896112"/>
            <a:ext cx="9144000" cy="365760"/>
          </a:xfrm>
          <a:prstGeom prst="rect">
            <a:avLst/>
          </a:prstGeom>
          <a:noFill/>
          <a:ln/>
        </p:spPr>
        <p:txBody>
          <a:bodyPr wrap="square" rtlCol="0" anchor="ctr"/>
          <a:lstStyle/>
          <a:p>
            <a:pPr indent="0" marL="0">
              <a:buNone/>
            </a:pPr>
            <a:r>
              <a:rPr lang="en-US" sz="1300" dirty="0">
                <a:solidFill>
                  <a:srgbClr val="5C6B8A"/>
                </a:solidFill>
                <a:latin typeface="Calibri" pitchFamily="34" charset="0"/>
                <a:ea typeface="Calibri" pitchFamily="34" charset="-122"/>
                <a:cs typeface="Calibri" pitchFamily="34" charset="-120"/>
              </a:rPr>
              <a:t>The Kubernetes objects I deployed, and what each one does for me</a:t>
            </a:r>
            <a:endParaRPr lang="en-US" sz="1300" dirty="0"/>
          </a:p>
        </p:txBody>
      </p:sp>
      <p:sp>
        <p:nvSpPr>
          <p:cNvPr id="4" name="Shape 2"/>
          <p:cNvSpPr/>
          <p:nvPr/>
        </p:nvSpPr>
        <p:spPr>
          <a:xfrm>
            <a:off x="685800" y="1481328"/>
            <a:ext cx="438912" cy="438912"/>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784555" y="1580083"/>
            <a:ext cx="241402" cy="241402"/>
          </a:xfrm>
          <a:prstGeom prst="rect">
            <a:avLst/>
          </a:prstGeom>
        </p:spPr>
      </p:pic>
      <p:sp>
        <p:nvSpPr>
          <p:cNvPr id="6" name="Text 3"/>
          <p:cNvSpPr txBox="1"/>
          <p:nvPr/>
        </p:nvSpPr>
        <p:spPr>
          <a:xfrm>
            <a:off x="1325880" y="1435608"/>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Namespace</a:t>
            </a:r>
            <a:endParaRPr lang="en-US" sz="1250" dirty="0"/>
          </a:p>
        </p:txBody>
      </p:sp>
      <p:sp>
        <p:nvSpPr>
          <p:cNvPr id="7" name="Text 4"/>
          <p:cNvSpPr txBox="1"/>
          <p:nvPr/>
        </p:nvSpPr>
        <p:spPr>
          <a:xfrm>
            <a:off x="4251960" y="1435608"/>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demo-web — isolates the app's objects, RBAC, and network policy</a:t>
            </a:r>
            <a:endParaRPr lang="en-US" sz="1150" dirty="0"/>
          </a:p>
        </p:txBody>
      </p:sp>
      <p:sp>
        <p:nvSpPr>
          <p:cNvPr id="8" name="Shape 5"/>
          <p:cNvSpPr/>
          <p:nvPr/>
        </p:nvSpPr>
        <p:spPr>
          <a:xfrm>
            <a:off x="548640" y="1993392"/>
            <a:ext cx="11064240" cy="576072"/>
          </a:xfrm>
          <a:prstGeom prst="rect">
            <a:avLst/>
          </a:prstGeom>
          <a:solidFill>
            <a:srgbClr val="F4F7FE"/>
          </a:solidFill>
          <a:ln/>
        </p:spPr>
      </p:sp>
      <p:sp>
        <p:nvSpPr>
          <p:cNvPr id="9" name="Shape 6"/>
          <p:cNvSpPr/>
          <p:nvPr/>
        </p:nvSpPr>
        <p:spPr>
          <a:xfrm>
            <a:off x="685800" y="2057400"/>
            <a:ext cx="438912" cy="438912"/>
          </a:xfrm>
          <a:prstGeom prst="ellipse">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784555" y="2156155"/>
            <a:ext cx="241402" cy="241402"/>
          </a:xfrm>
          <a:prstGeom prst="rect">
            <a:avLst/>
          </a:prstGeom>
        </p:spPr>
      </p:pic>
      <p:sp>
        <p:nvSpPr>
          <p:cNvPr id="11" name="Text 7"/>
          <p:cNvSpPr txBox="1"/>
          <p:nvPr/>
        </p:nvSpPr>
        <p:spPr>
          <a:xfrm>
            <a:off x="1325880" y="2011680"/>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Deployment</a:t>
            </a:r>
            <a:endParaRPr lang="en-US" sz="1250" dirty="0"/>
          </a:p>
        </p:txBody>
      </p:sp>
      <p:sp>
        <p:nvSpPr>
          <p:cNvPr id="12" name="Text 8"/>
          <p:cNvSpPr txBox="1"/>
          <p:nvPr/>
        </p:nvSpPr>
        <p:spPr>
          <a:xfrm>
            <a:off x="4251960" y="2011680"/>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2-5 replicas, non-root, read-only rootfs, all capabilities dropped</a:t>
            </a:r>
            <a:endParaRPr lang="en-US" sz="1150" dirty="0"/>
          </a:p>
        </p:txBody>
      </p:sp>
      <p:sp>
        <p:nvSpPr>
          <p:cNvPr id="13" name="Shape 9"/>
          <p:cNvSpPr/>
          <p:nvPr/>
        </p:nvSpPr>
        <p:spPr>
          <a:xfrm>
            <a:off x="685800" y="2633472"/>
            <a:ext cx="438912" cy="438912"/>
          </a:xfrm>
          <a:prstGeom prst="ellipse">
            <a:avLst/>
          </a:prstGeom>
          <a:solidFill>
            <a:srgbClr val="1E2761"/>
          </a:solidFill>
          <a:ln/>
        </p:spPr>
      </p:sp>
      <p:pic>
        <p:nvPicPr>
          <p:cNvPr id="14" name="Image 2" descr="preencoded.png">    </p:cNvPr>
          <p:cNvPicPr>
            <a:picLocks noChangeAspect="1"/>
          </p:cNvPicPr>
          <p:nvPr/>
        </p:nvPicPr>
        <p:blipFill>
          <a:blip r:embed="rId3"/>
          <a:stretch>
            <a:fillRect/>
          </a:stretch>
        </p:blipFill>
        <p:spPr>
          <a:xfrm>
            <a:off x="784555" y="2732227"/>
            <a:ext cx="241402" cy="241402"/>
          </a:xfrm>
          <a:prstGeom prst="rect">
            <a:avLst/>
          </a:prstGeom>
        </p:spPr>
      </p:pic>
      <p:sp>
        <p:nvSpPr>
          <p:cNvPr id="15" name="Text 10"/>
          <p:cNvSpPr txBox="1"/>
          <p:nvPr/>
        </p:nvSpPr>
        <p:spPr>
          <a:xfrm>
            <a:off x="1325880" y="2587752"/>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Service</a:t>
            </a:r>
            <a:endParaRPr lang="en-US" sz="1250" dirty="0"/>
          </a:p>
        </p:txBody>
      </p:sp>
      <p:sp>
        <p:nvSpPr>
          <p:cNvPr id="16" name="Text 11"/>
          <p:cNvSpPr txBox="1"/>
          <p:nvPr/>
        </p:nvSpPr>
        <p:spPr>
          <a:xfrm>
            <a:off x="4251960" y="2587752"/>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Stable ClusterIP — what the Ingress and Gateway actually target</a:t>
            </a:r>
            <a:endParaRPr lang="en-US" sz="1150" dirty="0"/>
          </a:p>
        </p:txBody>
      </p:sp>
      <p:sp>
        <p:nvSpPr>
          <p:cNvPr id="17" name="Shape 12"/>
          <p:cNvSpPr/>
          <p:nvPr/>
        </p:nvSpPr>
        <p:spPr>
          <a:xfrm>
            <a:off x="548640" y="3145536"/>
            <a:ext cx="11064240" cy="576072"/>
          </a:xfrm>
          <a:prstGeom prst="rect">
            <a:avLst/>
          </a:prstGeom>
          <a:solidFill>
            <a:srgbClr val="F4F7FE"/>
          </a:solidFill>
          <a:ln/>
        </p:spPr>
      </p:sp>
      <p:sp>
        <p:nvSpPr>
          <p:cNvPr id="18" name="Shape 13"/>
          <p:cNvSpPr/>
          <p:nvPr/>
        </p:nvSpPr>
        <p:spPr>
          <a:xfrm>
            <a:off x="685800" y="3209544"/>
            <a:ext cx="438912" cy="438912"/>
          </a:xfrm>
          <a:prstGeom prst="ellipse">
            <a:avLst/>
          </a:prstGeom>
          <a:solidFill>
            <a:srgbClr val="1E2761"/>
          </a:solidFill>
          <a:ln/>
        </p:spPr>
      </p:sp>
      <p:pic>
        <p:nvPicPr>
          <p:cNvPr id="19" name="Image 3" descr="preencoded.png">    </p:cNvPr>
          <p:cNvPicPr>
            <a:picLocks noChangeAspect="1"/>
          </p:cNvPicPr>
          <p:nvPr/>
        </p:nvPicPr>
        <p:blipFill>
          <a:blip r:embed="rId4"/>
          <a:stretch>
            <a:fillRect/>
          </a:stretch>
        </p:blipFill>
        <p:spPr>
          <a:xfrm>
            <a:off x="784555" y="3308299"/>
            <a:ext cx="241402" cy="241402"/>
          </a:xfrm>
          <a:prstGeom prst="rect">
            <a:avLst/>
          </a:prstGeom>
        </p:spPr>
      </p:pic>
      <p:sp>
        <p:nvSpPr>
          <p:cNvPr id="20" name="Text 14"/>
          <p:cNvSpPr txBox="1"/>
          <p:nvPr/>
        </p:nvSpPr>
        <p:spPr>
          <a:xfrm>
            <a:off x="1325880" y="3163824"/>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Ingress + AGIC</a:t>
            </a:r>
            <a:endParaRPr lang="en-US" sz="1250" dirty="0"/>
          </a:p>
        </p:txBody>
      </p:sp>
      <p:sp>
        <p:nvSpPr>
          <p:cNvPr id="21" name="Text 15"/>
          <p:cNvSpPr txBox="1"/>
          <p:nvPr/>
        </p:nvSpPr>
        <p:spPr>
          <a:xfrm>
            <a:off x="4251960" y="3163824"/>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Declares routing intent; AGIC drives the real Application Gateway</a:t>
            </a:r>
            <a:endParaRPr lang="en-US" sz="1150" dirty="0"/>
          </a:p>
        </p:txBody>
      </p:sp>
      <p:sp>
        <p:nvSpPr>
          <p:cNvPr id="22" name="Shape 16"/>
          <p:cNvSpPr/>
          <p:nvPr/>
        </p:nvSpPr>
        <p:spPr>
          <a:xfrm>
            <a:off x="685800" y="3785616"/>
            <a:ext cx="438912" cy="438912"/>
          </a:xfrm>
          <a:prstGeom prst="ellipse">
            <a:avLst/>
          </a:prstGeom>
          <a:solidFill>
            <a:srgbClr val="1E2761"/>
          </a:solidFill>
          <a:ln/>
        </p:spPr>
      </p:sp>
      <p:pic>
        <p:nvPicPr>
          <p:cNvPr id="23" name="Image 4" descr="preencoded.png">    </p:cNvPr>
          <p:cNvPicPr>
            <a:picLocks noChangeAspect="1"/>
          </p:cNvPicPr>
          <p:nvPr/>
        </p:nvPicPr>
        <p:blipFill>
          <a:blip r:embed="rId5"/>
          <a:stretch>
            <a:fillRect/>
          </a:stretch>
        </p:blipFill>
        <p:spPr>
          <a:xfrm>
            <a:off x="784555" y="3884371"/>
            <a:ext cx="241402" cy="241402"/>
          </a:xfrm>
          <a:prstGeom prst="rect">
            <a:avLst/>
          </a:prstGeom>
        </p:spPr>
      </p:pic>
      <p:sp>
        <p:nvSpPr>
          <p:cNvPr id="24" name="Text 17"/>
          <p:cNvSpPr txBox="1"/>
          <p:nvPr/>
        </p:nvSpPr>
        <p:spPr>
          <a:xfrm>
            <a:off x="1325880" y="3739896"/>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HorizontalPodAutoscaler</a:t>
            </a:r>
            <a:endParaRPr lang="en-US" sz="1250" dirty="0"/>
          </a:p>
        </p:txBody>
      </p:sp>
      <p:sp>
        <p:nvSpPr>
          <p:cNvPr id="25" name="Text 18"/>
          <p:cNvSpPr txBox="1"/>
          <p:nvPr/>
        </p:nvSpPr>
        <p:spPr>
          <a:xfrm>
            <a:off x="4251960" y="3739896"/>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Scales on CPU utilization (target 70%) with zero manual steps</a:t>
            </a:r>
            <a:endParaRPr lang="en-US" sz="1150" dirty="0"/>
          </a:p>
        </p:txBody>
      </p:sp>
      <p:sp>
        <p:nvSpPr>
          <p:cNvPr id="26" name="Shape 19"/>
          <p:cNvSpPr/>
          <p:nvPr/>
        </p:nvSpPr>
        <p:spPr>
          <a:xfrm>
            <a:off x="548640" y="4297680"/>
            <a:ext cx="11064240" cy="576072"/>
          </a:xfrm>
          <a:prstGeom prst="rect">
            <a:avLst/>
          </a:prstGeom>
          <a:solidFill>
            <a:srgbClr val="F4F7FE"/>
          </a:solidFill>
          <a:ln/>
        </p:spPr>
      </p:sp>
      <p:sp>
        <p:nvSpPr>
          <p:cNvPr id="27" name="Shape 20"/>
          <p:cNvSpPr/>
          <p:nvPr/>
        </p:nvSpPr>
        <p:spPr>
          <a:xfrm>
            <a:off x="685800" y="4361688"/>
            <a:ext cx="438912" cy="438912"/>
          </a:xfrm>
          <a:prstGeom prst="ellipse">
            <a:avLst/>
          </a:prstGeom>
          <a:solidFill>
            <a:srgbClr val="1E2761"/>
          </a:solidFill>
          <a:ln/>
        </p:spPr>
      </p:sp>
      <p:pic>
        <p:nvPicPr>
          <p:cNvPr id="28" name="Image 5" descr="preencoded.png">    </p:cNvPr>
          <p:cNvPicPr>
            <a:picLocks noChangeAspect="1"/>
          </p:cNvPicPr>
          <p:nvPr/>
        </p:nvPicPr>
        <p:blipFill>
          <a:blip r:embed="rId6"/>
          <a:stretch>
            <a:fillRect/>
          </a:stretch>
        </p:blipFill>
        <p:spPr>
          <a:xfrm>
            <a:off x="784555" y="4460443"/>
            <a:ext cx="241402" cy="241402"/>
          </a:xfrm>
          <a:prstGeom prst="rect">
            <a:avLst/>
          </a:prstGeom>
        </p:spPr>
      </p:pic>
      <p:sp>
        <p:nvSpPr>
          <p:cNvPr id="29" name="Text 21"/>
          <p:cNvSpPr txBox="1"/>
          <p:nvPr/>
        </p:nvSpPr>
        <p:spPr>
          <a:xfrm>
            <a:off x="1325880" y="4315968"/>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NetworkPolicy (×3)</a:t>
            </a:r>
            <a:endParaRPr lang="en-US" sz="1250" dirty="0"/>
          </a:p>
        </p:txBody>
      </p:sp>
      <p:sp>
        <p:nvSpPr>
          <p:cNvPr id="30" name="Text 22"/>
          <p:cNvSpPr txBox="1"/>
          <p:nvPr/>
        </p:nvSpPr>
        <p:spPr>
          <a:xfrm>
            <a:off x="4251960" y="4315968"/>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Default-deny; explicit allow only from the Gateway subnet + DNS</a:t>
            </a:r>
            <a:endParaRPr lang="en-US" sz="1150" dirty="0"/>
          </a:p>
        </p:txBody>
      </p:sp>
      <p:sp>
        <p:nvSpPr>
          <p:cNvPr id="31" name="Shape 23"/>
          <p:cNvSpPr/>
          <p:nvPr/>
        </p:nvSpPr>
        <p:spPr>
          <a:xfrm>
            <a:off x="685800" y="4937760"/>
            <a:ext cx="438912" cy="438912"/>
          </a:xfrm>
          <a:prstGeom prst="ellipse">
            <a:avLst/>
          </a:prstGeom>
          <a:solidFill>
            <a:srgbClr val="1E2761"/>
          </a:solidFill>
          <a:ln/>
        </p:spPr>
      </p:sp>
      <p:pic>
        <p:nvPicPr>
          <p:cNvPr id="32" name="Image 6" descr="preencoded.png">    </p:cNvPr>
          <p:cNvPicPr>
            <a:picLocks noChangeAspect="1"/>
          </p:cNvPicPr>
          <p:nvPr/>
        </p:nvPicPr>
        <p:blipFill>
          <a:blip r:embed="rId7"/>
          <a:stretch>
            <a:fillRect/>
          </a:stretch>
        </p:blipFill>
        <p:spPr>
          <a:xfrm>
            <a:off x="784555" y="5036515"/>
            <a:ext cx="241402" cy="241402"/>
          </a:xfrm>
          <a:prstGeom prst="rect">
            <a:avLst/>
          </a:prstGeom>
        </p:spPr>
      </p:pic>
      <p:sp>
        <p:nvSpPr>
          <p:cNvPr id="33" name="Text 24"/>
          <p:cNvSpPr txBox="1"/>
          <p:nvPr/>
        </p:nvSpPr>
        <p:spPr>
          <a:xfrm>
            <a:off x="1325880" y="4892040"/>
            <a:ext cx="2834640" cy="539496"/>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SecretProviderClass</a:t>
            </a:r>
            <a:endParaRPr lang="en-US" sz="1250" dirty="0"/>
          </a:p>
        </p:txBody>
      </p:sp>
      <p:sp>
        <p:nvSpPr>
          <p:cNvPr id="34" name="Text 25"/>
          <p:cNvSpPr txBox="1"/>
          <p:nvPr/>
        </p:nvSpPr>
        <p:spPr>
          <a:xfrm>
            <a:off x="4251960" y="4892040"/>
            <a:ext cx="7315200" cy="539496"/>
          </a:xfrm>
          <a:prstGeom prst="rect">
            <a:avLst/>
          </a:prstGeom>
          <a:noFill/>
          <a:ln/>
        </p:spPr>
        <p:txBody>
          <a:bodyPr wrap="square" rtlCol="0" anchor="ctr"/>
          <a:lstStyle/>
          <a:p>
            <a:pPr indent="0" marL="0">
              <a:buNone/>
            </a:pPr>
            <a:r>
              <a:rPr lang="en-US" sz="1150" dirty="0">
                <a:solidFill>
                  <a:srgbClr val="5C6B8A"/>
                </a:solidFill>
                <a:latin typeface="Calibri" pitchFamily="34" charset="0"/>
                <a:ea typeface="Calibri" pitchFamily="34" charset="-122"/>
                <a:cs typeface="Calibri" pitchFamily="34" charset="-120"/>
              </a:rPr>
              <a:t>Bridges the CSI driver to Key Vault — no cert material in Git</a:t>
            </a:r>
            <a:endParaRPr lang="en-US" sz="1150" dirty="0"/>
          </a:p>
        </p:txBody>
      </p:sp>
      <p:sp>
        <p:nvSpPr>
          <p:cNvPr id="36" name="Text 2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C6B8A"/>
                </a:solidFill>
                <a:latin typeface="Calibri" pitchFamily="34" charset="0"/>
                <a:ea typeface="Calibri" pitchFamily="34" charset="-122"/>
                <a:cs typeface="Calibri" pitchFamily="34" charset="-120"/>
              </a:rPr>
              <a:t>Secure Kubernetes on Azure — Portfolio Showcase</a:t>
            </a:r>
            <a:endParaRPr lang="en-US" sz="900" dirty="0"/>
          </a:p>
        </p:txBody>
      </p:sp>
      <p:sp>
        <p:nvSpPr>
          <p:cNvPr id="37" name="Text 2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I Locked It Down</a:t>
            </a:r>
            <a:endParaRPr lang="en-US" sz="3000" dirty="0"/>
          </a:p>
        </p:txBody>
      </p:sp>
      <p:sp>
        <p:nvSpPr>
          <p:cNvPr id="3" name="Shape 1"/>
          <p:cNvSpPr/>
          <p:nvPr/>
        </p:nvSpPr>
        <p:spPr>
          <a:xfrm>
            <a:off x="557784" y="1508760"/>
            <a:ext cx="3520440" cy="1965960"/>
          </a:xfrm>
          <a:prstGeom prst="roundRect">
            <a:avLst>
              <a:gd name="adj" fmla="val 4651"/>
            </a:avLst>
          </a:prstGeom>
          <a:solidFill>
            <a:srgbClr val="151B4A"/>
          </a:solidFill>
          <a:ln/>
        </p:spPr>
      </p:sp>
      <p:sp>
        <p:nvSpPr>
          <p:cNvPr id="4" name="Shape 2"/>
          <p:cNvSpPr/>
          <p:nvPr/>
        </p:nvSpPr>
        <p:spPr>
          <a:xfrm>
            <a:off x="786384" y="1737360"/>
            <a:ext cx="594360" cy="594360"/>
          </a:xfrm>
          <a:prstGeom prst="ellipse">
            <a:avLst/>
          </a:prstGeom>
          <a:solidFill>
            <a:srgbClr val="27306E"/>
          </a:solidFill>
          <a:ln/>
        </p:spPr>
      </p:sp>
      <p:pic>
        <p:nvPicPr>
          <p:cNvPr id="5" name="Image 0" descr="preencoded.png">    </p:cNvPr>
          <p:cNvPicPr>
            <a:picLocks noChangeAspect="1"/>
          </p:cNvPicPr>
          <p:nvPr/>
        </p:nvPicPr>
        <p:blipFill>
          <a:blip r:embed="rId1"/>
          <a:stretch>
            <a:fillRect/>
          </a:stretch>
        </p:blipFill>
        <p:spPr>
          <a:xfrm>
            <a:off x="920115" y="1871091"/>
            <a:ext cx="326898" cy="326898"/>
          </a:xfrm>
          <a:prstGeom prst="rect">
            <a:avLst/>
          </a:prstGeom>
        </p:spPr>
      </p:pic>
      <p:sp>
        <p:nvSpPr>
          <p:cNvPr id="6" name="Text 3"/>
          <p:cNvSpPr txBox="1"/>
          <p:nvPr/>
        </p:nvSpPr>
        <p:spPr>
          <a:xfrm>
            <a:off x="786384" y="2423160"/>
            <a:ext cx="3063240" cy="502920"/>
          </a:xfrm>
          <a:prstGeom prst="rect">
            <a:avLst/>
          </a:prstGeom>
          <a:noFill/>
          <a:ln/>
        </p:spPr>
        <p:txBody>
          <a:bodyPr wrap="square"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Private API server</a:t>
            </a:r>
            <a:endParaRPr lang="en-US" sz="1400" dirty="0"/>
          </a:p>
        </p:txBody>
      </p:sp>
      <p:sp>
        <p:nvSpPr>
          <p:cNvPr id="7" name="Text 4"/>
          <p:cNvSpPr txBox="1"/>
          <p:nvPr/>
        </p:nvSpPr>
        <p:spPr>
          <a:xfrm>
            <a:off x="786384" y="2880360"/>
            <a:ext cx="3063240" cy="548640"/>
          </a:xfrm>
          <a:prstGeom prst="rect">
            <a:avLst/>
          </a:prstGeom>
          <a:noFill/>
          <a:ln/>
        </p:spPr>
        <p:txBody>
          <a:bodyPr wrap="square"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No public control-plane IP, anywhere</a:t>
            </a:r>
            <a:endParaRPr lang="en-US" sz="1050" dirty="0"/>
          </a:p>
        </p:txBody>
      </p:sp>
      <p:sp>
        <p:nvSpPr>
          <p:cNvPr id="8" name="Shape 5"/>
          <p:cNvSpPr/>
          <p:nvPr/>
        </p:nvSpPr>
        <p:spPr>
          <a:xfrm>
            <a:off x="4334256" y="1508760"/>
            <a:ext cx="3520440" cy="1965960"/>
          </a:xfrm>
          <a:prstGeom prst="roundRect">
            <a:avLst>
              <a:gd name="adj" fmla="val 4651"/>
            </a:avLst>
          </a:prstGeom>
          <a:solidFill>
            <a:srgbClr val="151B4A"/>
          </a:solidFill>
          <a:ln/>
        </p:spPr>
      </p:sp>
      <p:sp>
        <p:nvSpPr>
          <p:cNvPr id="9" name="Shape 6"/>
          <p:cNvSpPr/>
          <p:nvPr/>
        </p:nvSpPr>
        <p:spPr>
          <a:xfrm>
            <a:off x="4562856" y="1737360"/>
            <a:ext cx="594360" cy="594360"/>
          </a:xfrm>
          <a:prstGeom prst="ellipse">
            <a:avLst/>
          </a:prstGeom>
          <a:solidFill>
            <a:srgbClr val="27306E"/>
          </a:solidFill>
          <a:ln/>
        </p:spPr>
      </p:sp>
      <p:pic>
        <p:nvPicPr>
          <p:cNvPr id="10" name="Image 1" descr="preencoded.png">    </p:cNvPr>
          <p:cNvPicPr>
            <a:picLocks noChangeAspect="1"/>
          </p:cNvPicPr>
          <p:nvPr/>
        </p:nvPicPr>
        <p:blipFill>
          <a:blip r:embed="rId2"/>
          <a:stretch>
            <a:fillRect/>
          </a:stretch>
        </p:blipFill>
        <p:spPr>
          <a:xfrm>
            <a:off x="4696587" y="1871091"/>
            <a:ext cx="326898" cy="326898"/>
          </a:xfrm>
          <a:prstGeom prst="rect">
            <a:avLst/>
          </a:prstGeom>
        </p:spPr>
      </p:pic>
      <p:sp>
        <p:nvSpPr>
          <p:cNvPr id="11" name="Text 7"/>
          <p:cNvSpPr txBox="1"/>
          <p:nvPr/>
        </p:nvSpPr>
        <p:spPr>
          <a:xfrm>
            <a:off x="4562856" y="2423160"/>
            <a:ext cx="3063240" cy="502920"/>
          </a:xfrm>
          <a:prstGeom prst="rect">
            <a:avLst/>
          </a:prstGeom>
          <a:noFill/>
          <a:ln/>
        </p:spPr>
        <p:txBody>
          <a:bodyPr wrap="square"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OIDC-only CI/CD</a:t>
            </a:r>
            <a:endParaRPr lang="en-US" sz="1400" dirty="0"/>
          </a:p>
        </p:txBody>
      </p:sp>
      <p:sp>
        <p:nvSpPr>
          <p:cNvPr id="12" name="Text 8"/>
          <p:cNvSpPr txBox="1"/>
          <p:nvPr/>
        </p:nvSpPr>
        <p:spPr>
          <a:xfrm>
            <a:off x="4562856" y="2880360"/>
            <a:ext cx="3063240" cy="548640"/>
          </a:xfrm>
          <a:prstGeom prst="rect">
            <a:avLst/>
          </a:prstGeom>
          <a:noFill/>
          <a:ln/>
        </p:spPr>
        <p:txBody>
          <a:bodyPr wrap="square"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Federated tokens — zero stored Azure secrets in GitHub</a:t>
            </a:r>
            <a:endParaRPr lang="en-US" sz="1050" dirty="0"/>
          </a:p>
        </p:txBody>
      </p:sp>
      <p:sp>
        <p:nvSpPr>
          <p:cNvPr id="13" name="Shape 9"/>
          <p:cNvSpPr/>
          <p:nvPr/>
        </p:nvSpPr>
        <p:spPr>
          <a:xfrm>
            <a:off x="8110728" y="1508760"/>
            <a:ext cx="3520440" cy="1965960"/>
          </a:xfrm>
          <a:prstGeom prst="roundRect">
            <a:avLst>
              <a:gd name="adj" fmla="val 4651"/>
            </a:avLst>
          </a:prstGeom>
          <a:solidFill>
            <a:srgbClr val="151B4A"/>
          </a:solidFill>
          <a:ln/>
        </p:spPr>
      </p:sp>
      <p:sp>
        <p:nvSpPr>
          <p:cNvPr id="14" name="Shape 10"/>
          <p:cNvSpPr/>
          <p:nvPr/>
        </p:nvSpPr>
        <p:spPr>
          <a:xfrm>
            <a:off x="8339328" y="1737360"/>
            <a:ext cx="594360" cy="594360"/>
          </a:xfrm>
          <a:prstGeom prst="ellipse">
            <a:avLst/>
          </a:prstGeom>
          <a:solidFill>
            <a:srgbClr val="27306E"/>
          </a:solidFill>
          <a:ln/>
        </p:spPr>
      </p:sp>
      <p:pic>
        <p:nvPicPr>
          <p:cNvPr id="15" name="Image 2" descr="preencoded.png">    </p:cNvPr>
          <p:cNvPicPr>
            <a:picLocks noChangeAspect="1"/>
          </p:cNvPicPr>
          <p:nvPr/>
        </p:nvPicPr>
        <p:blipFill>
          <a:blip r:embed="rId3"/>
          <a:stretch>
            <a:fillRect/>
          </a:stretch>
        </p:blipFill>
        <p:spPr>
          <a:xfrm>
            <a:off x="8473059" y="1871091"/>
            <a:ext cx="326898" cy="326898"/>
          </a:xfrm>
          <a:prstGeom prst="rect">
            <a:avLst/>
          </a:prstGeom>
        </p:spPr>
      </p:pic>
      <p:sp>
        <p:nvSpPr>
          <p:cNvPr id="16" name="Text 11"/>
          <p:cNvSpPr txBox="1"/>
          <p:nvPr/>
        </p:nvSpPr>
        <p:spPr>
          <a:xfrm>
            <a:off x="8339328" y="2423160"/>
            <a:ext cx="3063240" cy="502920"/>
          </a:xfrm>
          <a:prstGeom prst="rect">
            <a:avLst/>
          </a:prstGeom>
          <a:noFill/>
          <a:ln/>
        </p:spPr>
        <p:txBody>
          <a:bodyPr wrap="square"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Azure RBAC + Entra ID</a:t>
            </a:r>
            <a:endParaRPr lang="en-US" sz="1400" dirty="0"/>
          </a:p>
        </p:txBody>
      </p:sp>
      <p:sp>
        <p:nvSpPr>
          <p:cNvPr id="17" name="Text 12"/>
          <p:cNvSpPr txBox="1"/>
          <p:nvPr/>
        </p:nvSpPr>
        <p:spPr>
          <a:xfrm>
            <a:off x="8339328" y="2880360"/>
            <a:ext cx="3063240" cy="548640"/>
          </a:xfrm>
          <a:prstGeom prst="rect">
            <a:avLst/>
          </a:prstGeom>
          <a:noFill/>
          <a:ln/>
        </p:spPr>
        <p:txBody>
          <a:bodyPr wrap="square"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Cluster access is group membership, not a static kubeconfig</a:t>
            </a:r>
            <a:endParaRPr lang="en-US" sz="1050" dirty="0"/>
          </a:p>
        </p:txBody>
      </p:sp>
      <p:sp>
        <p:nvSpPr>
          <p:cNvPr id="18" name="Shape 13"/>
          <p:cNvSpPr/>
          <p:nvPr/>
        </p:nvSpPr>
        <p:spPr>
          <a:xfrm>
            <a:off x="557784" y="3749040"/>
            <a:ext cx="3520440" cy="1965960"/>
          </a:xfrm>
          <a:prstGeom prst="roundRect">
            <a:avLst>
              <a:gd name="adj" fmla="val 4651"/>
            </a:avLst>
          </a:prstGeom>
          <a:solidFill>
            <a:srgbClr val="151B4A"/>
          </a:solidFill>
          <a:ln/>
        </p:spPr>
      </p:sp>
      <p:sp>
        <p:nvSpPr>
          <p:cNvPr id="19" name="Shape 14"/>
          <p:cNvSpPr/>
          <p:nvPr/>
        </p:nvSpPr>
        <p:spPr>
          <a:xfrm>
            <a:off x="786384" y="3977640"/>
            <a:ext cx="594360" cy="594360"/>
          </a:xfrm>
          <a:prstGeom prst="ellipse">
            <a:avLst/>
          </a:prstGeom>
          <a:solidFill>
            <a:srgbClr val="27306E"/>
          </a:solidFill>
          <a:ln/>
        </p:spPr>
      </p:sp>
      <p:pic>
        <p:nvPicPr>
          <p:cNvPr id="20" name="Image 3" descr="preencoded.png">    </p:cNvPr>
          <p:cNvPicPr>
            <a:picLocks noChangeAspect="1"/>
          </p:cNvPicPr>
          <p:nvPr/>
        </p:nvPicPr>
        <p:blipFill>
          <a:blip r:embed="rId4"/>
          <a:stretch>
            <a:fillRect/>
          </a:stretch>
        </p:blipFill>
        <p:spPr>
          <a:xfrm>
            <a:off x="920115" y="4111371"/>
            <a:ext cx="326898" cy="326898"/>
          </a:xfrm>
          <a:prstGeom prst="rect">
            <a:avLst/>
          </a:prstGeom>
        </p:spPr>
      </p:pic>
      <p:sp>
        <p:nvSpPr>
          <p:cNvPr id="21" name="Text 15"/>
          <p:cNvSpPr txBox="1"/>
          <p:nvPr/>
        </p:nvSpPr>
        <p:spPr>
          <a:xfrm>
            <a:off x="786384" y="4663440"/>
            <a:ext cx="3063240" cy="502920"/>
          </a:xfrm>
          <a:prstGeom prst="rect">
            <a:avLst/>
          </a:prstGeom>
          <a:noFill/>
          <a:ln/>
        </p:spPr>
        <p:txBody>
          <a:bodyPr wrap="square"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Default-deny NetworkPolicy</a:t>
            </a:r>
            <a:endParaRPr lang="en-US" sz="1400" dirty="0"/>
          </a:p>
        </p:txBody>
      </p:sp>
      <p:sp>
        <p:nvSpPr>
          <p:cNvPr id="22" name="Text 16"/>
          <p:cNvSpPr txBox="1"/>
          <p:nvPr/>
        </p:nvSpPr>
        <p:spPr>
          <a:xfrm>
            <a:off x="786384" y="5120640"/>
            <a:ext cx="3063240" cy="548640"/>
          </a:xfrm>
          <a:prstGeom prst="rect">
            <a:avLst/>
          </a:prstGeom>
          <a:noFill/>
          <a:ln/>
        </p:spPr>
        <p:txBody>
          <a:bodyPr wrap="square"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Explicit allow only from the Gateway; egress limited to DNS</a:t>
            </a:r>
            <a:endParaRPr lang="en-US" sz="1050" dirty="0"/>
          </a:p>
        </p:txBody>
      </p:sp>
      <p:sp>
        <p:nvSpPr>
          <p:cNvPr id="23" name="Shape 17"/>
          <p:cNvSpPr/>
          <p:nvPr/>
        </p:nvSpPr>
        <p:spPr>
          <a:xfrm>
            <a:off x="4334256" y="3749040"/>
            <a:ext cx="3520440" cy="1965960"/>
          </a:xfrm>
          <a:prstGeom prst="roundRect">
            <a:avLst>
              <a:gd name="adj" fmla="val 4651"/>
            </a:avLst>
          </a:prstGeom>
          <a:solidFill>
            <a:srgbClr val="151B4A"/>
          </a:solidFill>
          <a:ln/>
        </p:spPr>
      </p:sp>
      <p:sp>
        <p:nvSpPr>
          <p:cNvPr id="24" name="Shape 18"/>
          <p:cNvSpPr/>
          <p:nvPr/>
        </p:nvSpPr>
        <p:spPr>
          <a:xfrm>
            <a:off x="4562856" y="3977640"/>
            <a:ext cx="594360" cy="594360"/>
          </a:xfrm>
          <a:prstGeom prst="ellipse">
            <a:avLst/>
          </a:prstGeom>
          <a:solidFill>
            <a:srgbClr val="27306E"/>
          </a:solidFill>
          <a:ln/>
        </p:spPr>
      </p:sp>
      <p:pic>
        <p:nvPicPr>
          <p:cNvPr id="25" name="Image 4" descr="preencoded.png">    </p:cNvPr>
          <p:cNvPicPr>
            <a:picLocks noChangeAspect="1"/>
          </p:cNvPicPr>
          <p:nvPr/>
        </p:nvPicPr>
        <p:blipFill>
          <a:blip r:embed="rId5"/>
          <a:stretch>
            <a:fillRect/>
          </a:stretch>
        </p:blipFill>
        <p:spPr>
          <a:xfrm>
            <a:off x="4696587" y="4111371"/>
            <a:ext cx="326898" cy="326898"/>
          </a:xfrm>
          <a:prstGeom prst="rect">
            <a:avLst/>
          </a:prstGeom>
        </p:spPr>
      </p:pic>
      <p:sp>
        <p:nvSpPr>
          <p:cNvPr id="26" name="Text 19"/>
          <p:cNvSpPr txBox="1"/>
          <p:nvPr/>
        </p:nvSpPr>
        <p:spPr>
          <a:xfrm>
            <a:off x="4562856" y="4663440"/>
            <a:ext cx="3063240" cy="502920"/>
          </a:xfrm>
          <a:prstGeom prst="rect">
            <a:avLst/>
          </a:prstGeom>
          <a:noFill/>
          <a:ln/>
        </p:spPr>
        <p:txBody>
          <a:bodyPr wrap="square"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Non-root everywhere</a:t>
            </a:r>
            <a:endParaRPr lang="en-US" sz="1400" dirty="0"/>
          </a:p>
        </p:txBody>
      </p:sp>
      <p:sp>
        <p:nvSpPr>
          <p:cNvPr id="27" name="Text 20"/>
          <p:cNvSpPr txBox="1"/>
          <p:nvPr/>
        </p:nvSpPr>
        <p:spPr>
          <a:xfrm>
            <a:off x="4562856" y="5120640"/>
            <a:ext cx="3063240" cy="548640"/>
          </a:xfrm>
          <a:prstGeom prst="rect">
            <a:avLst/>
          </a:prstGeom>
          <a:noFill/>
          <a:ln/>
        </p:spPr>
        <p:txBody>
          <a:bodyPr wrap="square"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Read-only rootfs, dropped capabilities, seccomp RuntimeDefault</a:t>
            </a:r>
            <a:endParaRPr lang="en-US" sz="1050" dirty="0"/>
          </a:p>
        </p:txBody>
      </p:sp>
      <p:sp>
        <p:nvSpPr>
          <p:cNvPr id="28" name="Shape 21"/>
          <p:cNvSpPr/>
          <p:nvPr/>
        </p:nvSpPr>
        <p:spPr>
          <a:xfrm>
            <a:off x="8110728" y="3749040"/>
            <a:ext cx="3520440" cy="1965960"/>
          </a:xfrm>
          <a:prstGeom prst="roundRect">
            <a:avLst>
              <a:gd name="adj" fmla="val 4651"/>
            </a:avLst>
          </a:prstGeom>
          <a:solidFill>
            <a:srgbClr val="151B4A"/>
          </a:solidFill>
          <a:ln/>
        </p:spPr>
      </p:sp>
      <p:sp>
        <p:nvSpPr>
          <p:cNvPr id="29" name="Shape 22"/>
          <p:cNvSpPr/>
          <p:nvPr/>
        </p:nvSpPr>
        <p:spPr>
          <a:xfrm>
            <a:off x="8339328" y="3977640"/>
            <a:ext cx="594360" cy="594360"/>
          </a:xfrm>
          <a:prstGeom prst="ellipse">
            <a:avLst/>
          </a:prstGeom>
          <a:solidFill>
            <a:srgbClr val="27306E"/>
          </a:solidFill>
          <a:ln/>
        </p:spPr>
      </p:sp>
      <p:pic>
        <p:nvPicPr>
          <p:cNvPr id="30" name="Image 5" descr="preencoded.png">    </p:cNvPr>
          <p:cNvPicPr>
            <a:picLocks noChangeAspect="1"/>
          </p:cNvPicPr>
          <p:nvPr/>
        </p:nvPicPr>
        <p:blipFill>
          <a:blip r:embed="rId6"/>
          <a:stretch>
            <a:fillRect/>
          </a:stretch>
        </p:blipFill>
        <p:spPr>
          <a:xfrm>
            <a:off x="8473059" y="4111371"/>
            <a:ext cx="326898" cy="326898"/>
          </a:xfrm>
          <a:prstGeom prst="rect">
            <a:avLst/>
          </a:prstGeom>
        </p:spPr>
      </p:pic>
      <p:sp>
        <p:nvSpPr>
          <p:cNvPr id="31" name="Text 23"/>
          <p:cNvSpPr txBox="1"/>
          <p:nvPr/>
        </p:nvSpPr>
        <p:spPr>
          <a:xfrm>
            <a:off x="8339328" y="4663440"/>
            <a:ext cx="3063240" cy="502920"/>
          </a:xfrm>
          <a:prstGeom prst="rect">
            <a:avLst/>
          </a:prstGeom>
          <a:noFill/>
          <a:ln/>
        </p:spPr>
        <p:txBody>
          <a:bodyPr wrap="square"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No embedded credentials</a:t>
            </a:r>
            <a:endParaRPr lang="en-US" sz="1400" dirty="0"/>
          </a:p>
        </p:txBody>
      </p:sp>
      <p:sp>
        <p:nvSpPr>
          <p:cNvPr id="32" name="Text 24"/>
          <p:cNvSpPr txBox="1"/>
          <p:nvPr/>
        </p:nvSpPr>
        <p:spPr>
          <a:xfrm>
            <a:off x="8339328" y="5120640"/>
            <a:ext cx="3063240" cy="548640"/>
          </a:xfrm>
          <a:prstGeom prst="rect">
            <a:avLst/>
          </a:prstGeom>
          <a:noFill/>
          <a:ln/>
        </p:spPr>
        <p:txBody>
          <a:bodyPr wrap="square"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ACR, Key Vault, and Gateway access all via managed identity</a:t>
            </a:r>
            <a:endParaRPr lang="en-US" sz="1050" dirty="0"/>
          </a:p>
        </p:txBody>
      </p:sp>
      <p:sp>
        <p:nvSpPr>
          <p:cNvPr id="34" name="Text 2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8891C0"/>
                </a:solidFill>
                <a:latin typeface="Calibri" pitchFamily="34" charset="0"/>
                <a:ea typeface="Calibri" pitchFamily="34" charset="-122"/>
                <a:cs typeface="Calibri" pitchFamily="34" charset="-120"/>
              </a:rPr>
              <a:t>Secure Kubernetes on Azure — Portfolio Showcase</a:t>
            </a:r>
            <a:endParaRPr lang="en-US" sz="900" dirty="0"/>
          </a:p>
        </p:txBody>
      </p:sp>
      <p:sp>
        <p:nvSpPr>
          <p:cNvPr id="35" name="Text 2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891C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48640"/>
          </a:xfrm>
          <a:prstGeom prst="rect">
            <a:avLst/>
          </a:prstGeom>
          <a:noFill/>
          <a:ln/>
        </p:spPr>
        <p:txBody>
          <a:bodyPr wrap="square"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From git push to a running pod</a:t>
            </a:r>
            <a:endParaRPr lang="en-US" sz="2800" dirty="0"/>
          </a:p>
        </p:txBody>
      </p:sp>
      <p:sp>
        <p:nvSpPr>
          <p:cNvPr id="3" name="Shape 1"/>
          <p:cNvSpPr/>
          <p:nvPr/>
        </p:nvSpPr>
        <p:spPr>
          <a:xfrm>
            <a:off x="1120140" y="2011680"/>
            <a:ext cx="822960" cy="82296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1305306" y="2196846"/>
            <a:ext cx="452628" cy="452628"/>
          </a:xfrm>
          <a:prstGeom prst="rect">
            <a:avLst/>
          </a:prstGeom>
        </p:spPr>
      </p:pic>
      <p:sp>
        <p:nvSpPr>
          <p:cNvPr id="5" name="Text 2"/>
          <p:cNvSpPr txBox="1"/>
          <p:nvPr/>
        </p:nvSpPr>
        <p:spPr>
          <a:xfrm>
            <a:off x="1668780" y="1938528"/>
            <a:ext cx="365760" cy="365760"/>
          </a:xfrm>
          <a:prstGeom prst="rect">
            <a:avLst>
              <a:gd name="adj" fmla="val 50000"/>
            </a:avLst>
          </a:prstGeom>
          <a:solidFill>
            <a:srgbClr val="00D9C0"/>
          </a:solid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6" name="Text 3"/>
          <p:cNvSpPr txBox="1"/>
          <p:nvPr/>
        </p:nvSpPr>
        <p:spPr>
          <a:xfrm>
            <a:off x="548640" y="2971800"/>
            <a:ext cx="196596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Push</a:t>
            </a:r>
            <a:endParaRPr lang="en-US" sz="1300" dirty="0"/>
          </a:p>
        </p:txBody>
      </p:sp>
      <p:sp>
        <p:nvSpPr>
          <p:cNvPr id="7" name="Text 4"/>
          <p:cNvSpPr txBox="1"/>
          <p:nvPr/>
        </p:nvSpPr>
        <p:spPr>
          <a:xfrm>
            <a:off x="548640" y="3337560"/>
            <a:ext cx="1965960" cy="1005840"/>
          </a:xfrm>
          <a:prstGeom prst="rect">
            <a:avLst/>
          </a:prstGeom>
          <a:noFill/>
          <a:ln/>
        </p:spPr>
        <p:txBody>
          <a:bodyPr wrap="square" rtlCol="0" anchor="ctr"/>
          <a:lstStyle/>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What-If runs on</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every PR, shows</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the exact diff</a:t>
            </a:r>
            <a:endParaRPr lang="en-US" sz="950" dirty="0"/>
          </a:p>
        </p:txBody>
      </p:sp>
      <p:sp>
        <p:nvSpPr>
          <p:cNvPr id="8" name="Shape 5"/>
          <p:cNvSpPr/>
          <p:nvPr/>
        </p:nvSpPr>
        <p:spPr>
          <a:xfrm>
            <a:off x="2569464" y="2423160"/>
            <a:ext cx="198882" cy="0"/>
          </a:xfrm>
          <a:prstGeom prst="line">
            <a:avLst/>
          </a:prstGeom>
          <a:noFill/>
          <a:ln w="25400">
            <a:solidFill>
              <a:srgbClr val="9AA7CE"/>
            </a:solidFill>
            <a:prstDash val="solid"/>
            <a:tailEnd type="triangle"/>
          </a:ln>
        </p:spPr>
      </p:sp>
      <p:sp>
        <p:nvSpPr>
          <p:cNvPr id="9" name="Shape 6"/>
          <p:cNvSpPr/>
          <p:nvPr/>
        </p:nvSpPr>
        <p:spPr>
          <a:xfrm>
            <a:off x="3394710" y="2011680"/>
            <a:ext cx="822960" cy="822960"/>
          </a:xfrm>
          <a:prstGeom prst="ellipse">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3579876" y="2196846"/>
            <a:ext cx="452628" cy="452628"/>
          </a:xfrm>
          <a:prstGeom prst="rect">
            <a:avLst/>
          </a:prstGeom>
        </p:spPr>
      </p:pic>
      <p:sp>
        <p:nvSpPr>
          <p:cNvPr id="11" name="Text 7"/>
          <p:cNvSpPr txBox="1"/>
          <p:nvPr/>
        </p:nvSpPr>
        <p:spPr>
          <a:xfrm>
            <a:off x="3943350" y="1938528"/>
            <a:ext cx="365760" cy="365760"/>
          </a:xfrm>
          <a:prstGeom prst="rect">
            <a:avLst>
              <a:gd name="adj" fmla="val 50000"/>
            </a:avLst>
          </a:prstGeom>
          <a:solidFill>
            <a:srgbClr val="00D9C0"/>
          </a:solid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2" name="Text 8"/>
          <p:cNvSpPr txBox="1"/>
          <p:nvPr/>
        </p:nvSpPr>
        <p:spPr>
          <a:xfrm>
            <a:off x="2823210" y="2971800"/>
            <a:ext cx="196596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Build &amp; Push</a:t>
            </a:r>
            <a:endParaRPr lang="en-US" sz="1300" dirty="0"/>
          </a:p>
        </p:txBody>
      </p:sp>
      <p:sp>
        <p:nvSpPr>
          <p:cNvPr id="13" name="Text 9"/>
          <p:cNvSpPr txBox="1"/>
          <p:nvPr/>
        </p:nvSpPr>
        <p:spPr>
          <a:xfrm>
            <a:off x="2823210" y="3337560"/>
            <a:ext cx="1965960" cy="1005840"/>
          </a:xfrm>
          <a:prstGeom prst="rect">
            <a:avLst/>
          </a:prstGeom>
          <a:noFill/>
          <a:ln/>
        </p:spPr>
        <p:txBody>
          <a:bodyPr wrap="square" rtlCol="0" anchor="ctr"/>
          <a:lstStyle/>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OIDC login, image</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built, tagged with</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git SHA, pushed to ACR</a:t>
            </a:r>
            <a:endParaRPr lang="en-US" sz="950" dirty="0"/>
          </a:p>
        </p:txBody>
      </p:sp>
      <p:sp>
        <p:nvSpPr>
          <p:cNvPr id="14" name="Shape 10"/>
          <p:cNvSpPr/>
          <p:nvPr/>
        </p:nvSpPr>
        <p:spPr>
          <a:xfrm>
            <a:off x="4844034" y="2423160"/>
            <a:ext cx="198882" cy="0"/>
          </a:xfrm>
          <a:prstGeom prst="line">
            <a:avLst/>
          </a:prstGeom>
          <a:noFill/>
          <a:ln w="25400">
            <a:solidFill>
              <a:srgbClr val="9AA7CE"/>
            </a:solidFill>
            <a:prstDash val="solid"/>
            <a:tailEnd type="triangle"/>
          </a:ln>
        </p:spPr>
      </p:sp>
      <p:sp>
        <p:nvSpPr>
          <p:cNvPr id="15" name="Shape 11"/>
          <p:cNvSpPr/>
          <p:nvPr/>
        </p:nvSpPr>
        <p:spPr>
          <a:xfrm>
            <a:off x="5669280" y="2011680"/>
            <a:ext cx="822960" cy="822960"/>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5854446" y="2196846"/>
            <a:ext cx="452628" cy="452628"/>
          </a:xfrm>
          <a:prstGeom prst="rect">
            <a:avLst/>
          </a:prstGeom>
        </p:spPr>
      </p:pic>
      <p:sp>
        <p:nvSpPr>
          <p:cNvPr id="17" name="Text 12"/>
          <p:cNvSpPr txBox="1"/>
          <p:nvPr/>
        </p:nvSpPr>
        <p:spPr>
          <a:xfrm>
            <a:off x="6217920" y="1938528"/>
            <a:ext cx="365760" cy="365760"/>
          </a:xfrm>
          <a:prstGeom prst="rect">
            <a:avLst>
              <a:gd name="adj" fmla="val 50000"/>
            </a:avLst>
          </a:prstGeom>
          <a:solidFill>
            <a:srgbClr val="00D9C0"/>
          </a:solid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8" name="Text 13"/>
          <p:cNvSpPr txBox="1"/>
          <p:nvPr/>
        </p:nvSpPr>
        <p:spPr>
          <a:xfrm>
            <a:off x="5097780" y="2971800"/>
            <a:ext cx="196596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Bicep Deploy</a:t>
            </a:r>
            <a:endParaRPr lang="en-US" sz="1300" dirty="0"/>
          </a:p>
        </p:txBody>
      </p:sp>
      <p:sp>
        <p:nvSpPr>
          <p:cNvPr id="19" name="Text 14"/>
          <p:cNvSpPr txBox="1"/>
          <p:nvPr/>
        </p:nvSpPr>
        <p:spPr>
          <a:xfrm>
            <a:off x="5097780" y="3337560"/>
            <a:ext cx="1965960" cy="1005840"/>
          </a:xfrm>
          <a:prstGeom prst="rect">
            <a:avLst/>
          </a:prstGeom>
          <a:noFill/>
          <a:ln/>
        </p:spPr>
        <p:txBody>
          <a:bodyPr wrap="square" rtlCol="0" anchor="ctr"/>
          <a:lstStyle/>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Dev auto-deploys;</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prod behind an</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approval gate</a:t>
            </a:r>
            <a:endParaRPr lang="en-US" sz="950" dirty="0"/>
          </a:p>
        </p:txBody>
      </p:sp>
      <p:sp>
        <p:nvSpPr>
          <p:cNvPr id="20" name="Shape 15"/>
          <p:cNvSpPr/>
          <p:nvPr/>
        </p:nvSpPr>
        <p:spPr>
          <a:xfrm>
            <a:off x="7118604" y="2423160"/>
            <a:ext cx="198882" cy="0"/>
          </a:xfrm>
          <a:prstGeom prst="line">
            <a:avLst/>
          </a:prstGeom>
          <a:noFill/>
          <a:ln w="25400">
            <a:solidFill>
              <a:srgbClr val="9AA7CE"/>
            </a:solidFill>
            <a:prstDash val="solid"/>
            <a:tailEnd type="triangle"/>
          </a:ln>
        </p:spPr>
      </p:sp>
      <p:sp>
        <p:nvSpPr>
          <p:cNvPr id="21" name="Shape 16"/>
          <p:cNvSpPr/>
          <p:nvPr/>
        </p:nvSpPr>
        <p:spPr>
          <a:xfrm>
            <a:off x="7943850" y="2011680"/>
            <a:ext cx="822960" cy="822960"/>
          </a:xfrm>
          <a:prstGeom prst="ellipse">
            <a:avLst/>
          </a:prstGeom>
          <a:solidFill>
            <a:srgbClr val="1E2761"/>
          </a:solidFill>
          <a:ln/>
        </p:spPr>
      </p:sp>
      <p:pic>
        <p:nvPicPr>
          <p:cNvPr id="22" name="Image 3" descr="preencoded.png">    </p:cNvPr>
          <p:cNvPicPr>
            <a:picLocks noChangeAspect="1"/>
          </p:cNvPicPr>
          <p:nvPr/>
        </p:nvPicPr>
        <p:blipFill>
          <a:blip r:embed="rId4"/>
          <a:stretch>
            <a:fillRect/>
          </a:stretch>
        </p:blipFill>
        <p:spPr>
          <a:xfrm>
            <a:off x="8129016" y="2196846"/>
            <a:ext cx="452628" cy="452628"/>
          </a:xfrm>
          <a:prstGeom prst="rect">
            <a:avLst/>
          </a:prstGeom>
        </p:spPr>
      </p:pic>
      <p:sp>
        <p:nvSpPr>
          <p:cNvPr id="23" name="Text 17"/>
          <p:cNvSpPr txBox="1"/>
          <p:nvPr/>
        </p:nvSpPr>
        <p:spPr>
          <a:xfrm>
            <a:off x="8492490" y="1938528"/>
            <a:ext cx="365760" cy="365760"/>
          </a:xfrm>
          <a:prstGeom prst="rect">
            <a:avLst>
              <a:gd name="adj" fmla="val 50000"/>
            </a:avLst>
          </a:prstGeom>
          <a:solidFill>
            <a:srgbClr val="00D9C0"/>
          </a:solid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4" name="Text 18"/>
          <p:cNvSpPr txBox="1"/>
          <p:nvPr/>
        </p:nvSpPr>
        <p:spPr>
          <a:xfrm>
            <a:off x="7372350" y="2971800"/>
            <a:ext cx="196596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kubectl apply</a:t>
            </a:r>
            <a:endParaRPr lang="en-US" sz="1300" dirty="0"/>
          </a:p>
        </p:txBody>
      </p:sp>
      <p:sp>
        <p:nvSpPr>
          <p:cNvPr id="25" name="Text 19"/>
          <p:cNvSpPr txBox="1"/>
          <p:nvPr/>
        </p:nvSpPr>
        <p:spPr>
          <a:xfrm>
            <a:off x="7372350" y="3337560"/>
            <a:ext cx="1965960" cy="1005840"/>
          </a:xfrm>
          <a:prstGeom prst="rect">
            <a:avLst/>
          </a:prstGeom>
          <a:noFill/>
          <a:ln/>
        </p:spPr>
        <p:txBody>
          <a:bodyPr wrap="square" rtlCol="0" anchor="ctr"/>
          <a:lstStyle/>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Via az aks command</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invoke — the only path</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into a private API server</a:t>
            </a:r>
            <a:endParaRPr lang="en-US" sz="950" dirty="0"/>
          </a:p>
        </p:txBody>
      </p:sp>
      <p:sp>
        <p:nvSpPr>
          <p:cNvPr id="26" name="Shape 20"/>
          <p:cNvSpPr/>
          <p:nvPr/>
        </p:nvSpPr>
        <p:spPr>
          <a:xfrm>
            <a:off x="9393174" y="2423160"/>
            <a:ext cx="198882" cy="0"/>
          </a:xfrm>
          <a:prstGeom prst="line">
            <a:avLst/>
          </a:prstGeom>
          <a:noFill/>
          <a:ln w="25400">
            <a:solidFill>
              <a:srgbClr val="9AA7CE"/>
            </a:solidFill>
            <a:prstDash val="solid"/>
            <a:tailEnd type="triangle"/>
          </a:ln>
        </p:spPr>
      </p:sp>
      <p:sp>
        <p:nvSpPr>
          <p:cNvPr id="27" name="Shape 21"/>
          <p:cNvSpPr/>
          <p:nvPr/>
        </p:nvSpPr>
        <p:spPr>
          <a:xfrm>
            <a:off x="10218420" y="2011680"/>
            <a:ext cx="822960" cy="822960"/>
          </a:xfrm>
          <a:prstGeom prst="ellipse">
            <a:avLst/>
          </a:prstGeom>
          <a:solidFill>
            <a:srgbClr val="1E2761"/>
          </a:solidFill>
          <a:ln/>
        </p:spPr>
      </p:sp>
      <p:pic>
        <p:nvPicPr>
          <p:cNvPr id="28" name="Image 4" descr="preencoded.png">    </p:cNvPr>
          <p:cNvPicPr>
            <a:picLocks noChangeAspect="1"/>
          </p:cNvPicPr>
          <p:nvPr/>
        </p:nvPicPr>
        <p:blipFill>
          <a:blip r:embed="rId5"/>
          <a:stretch>
            <a:fillRect/>
          </a:stretch>
        </p:blipFill>
        <p:spPr>
          <a:xfrm>
            <a:off x="10403586" y="2196846"/>
            <a:ext cx="452628" cy="452628"/>
          </a:xfrm>
          <a:prstGeom prst="rect">
            <a:avLst/>
          </a:prstGeom>
        </p:spPr>
      </p:pic>
      <p:sp>
        <p:nvSpPr>
          <p:cNvPr id="29" name="Text 22"/>
          <p:cNvSpPr txBox="1"/>
          <p:nvPr/>
        </p:nvSpPr>
        <p:spPr>
          <a:xfrm>
            <a:off x="10767060" y="1938528"/>
            <a:ext cx="365760" cy="365760"/>
          </a:xfrm>
          <a:prstGeom prst="rect">
            <a:avLst>
              <a:gd name="adj" fmla="val 50000"/>
            </a:avLst>
          </a:prstGeom>
          <a:solidFill>
            <a:srgbClr val="00D9C0"/>
          </a:solid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30" name="Text 23"/>
          <p:cNvSpPr txBox="1"/>
          <p:nvPr/>
        </p:nvSpPr>
        <p:spPr>
          <a:xfrm>
            <a:off x="9646920" y="2971800"/>
            <a:ext cx="1965960" cy="365760"/>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AGIC reconciles</a:t>
            </a:r>
            <a:endParaRPr lang="en-US" sz="1300" dirty="0"/>
          </a:p>
        </p:txBody>
      </p:sp>
      <p:sp>
        <p:nvSpPr>
          <p:cNvPr id="31" name="Text 24"/>
          <p:cNvSpPr txBox="1"/>
          <p:nvPr/>
        </p:nvSpPr>
        <p:spPr>
          <a:xfrm>
            <a:off x="9646920" y="3337560"/>
            <a:ext cx="1965960" cy="1005840"/>
          </a:xfrm>
          <a:prstGeom prst="rect">
            <a:avLst/>
          </a:prstGeom>
          <a:noFill/>
          <a:ln/>
        </p:spPr>
        <p:txBody>
          <a:bodyPr wrap="square" rtlCol="0" anchor="ctr"/>
          <a:lstStyle/>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Gateway listener +</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backend pool updated</a:t>
            </a:r>
            <a:endParaRPr lang="en-US" sz="950" dirty="0"/>
          </a:p>
          <a:p>
            <a:pPr algn="ctr" indent="0" marL="0">
              <a:lnSpc>
                <a:spcPct val="115000"/>
              </a:lnSpc>
              <a:buNone/>
            </a:pPr>
            <a:r>
              <a:rPr lang="en-US" sz="950" dirty="0">
                <a:solidFill>
                  <a:srgbClr val="5C6B8A"/>
                </a:solidFill>
                <a:latin typeface="Calibri" pitchFamily="34" charset="0"/>
                <a:ea typeface="Calibri" pitchFamily="34" charset="-122"/>
                <a:cs typeface="Calibri" pitchFamily="34" charset="-120"/>
              </a:rPr>
              <a:t>to match the Ingress</a:t>
            </a:r>
            <a:endParaRPr lang="en-US" sz="950" dirty="0"/>
          </a:p>
        </p:txBody>
      </p:sp>
      <p:sp>
        <p:nvSpPr>
          <p:cNvPr id="32" name="Shape 25"/>
          <p:cNvSpPr/>
          <p:nvPr/>
        </p:nvSpPr>
        <p:spPr>
          <a:xfrm>
            <a:off x="548640" y="4663440"/>
            <a:ext cx="11064240" cy="1051560"/>
          </a:xfrm>
          <a:prstGeom prst="roundRect">
            <a:avLst>
              <a:gd name="adj" fmla="val 8696"/>
            </a:avLst>
          </a:prstGeom>
          <a:solidFill>
            <a:srgbClr val="F4F7FE"/>
          </a:solidFill>
          <a:ln/>
        </p:spPr>
      </p:sp>
      <p:sp>
        <p:nvSpPr>
          <p:cNvPr id="33" name="Text 26"/>
          <p:cNvSpPr txBox="1"/>
          <p:nvPr/>
        </p:nvSpPr>
        <p:spPr>
          <a:xfrm>
            <a:off x="868680" y="4828032"/>
            <a:ext cx="10424160" cy="731520"/>
          </a:xfrm>
          <a:prstGeom prst="rect">
            <a:avLst/>
          </a:prstGeom>
          <a:noFill/>
          <a:ln/>
        </p:spPr>
        <p:txBody>
          <a:bodyPr wrap="square" rtlCol="0" anchor="ctr"/>
          <a:lstStyle/>
          <a:p>
            <a:pPr indent="0" marL="0">
              <a:lnSpc>
                <a:spcPct val="125000"/>
              </a:lnSpc>
              <a:buNone/>
            </a:pPr>
            <a:r>
              <a:rPr lang="en-US" sz="1200" i="1" dirty="0">
                <a:solidFill>
                  <a:srgbClr val="1E2761"/>
                </a:solidFill>
                <a:latin typeface="Calibri" pitchFamily="34" charset="0"/>
                <a:ea typeface="Calibri" pitchFamily="34" charset="-122"/>
                <a:cs typeface="Calibri" pitchFamily="34" charset="-120"/>
              </a:rPr>
              <a:t>Why I built it this way: a GitHub-hosted runner has no network route into a private cluster. So I use “az aks command invoke”, which runs kubectl through Azure itself. No VPN, no self-hosted runner and no Bastion host.</a:t>
            </a:r>
            <a:endParaRPr lang="en-US" sz="1200" dirty="0"/>
          </a:p>
        </p:txBody>
      </p:sp>
      <p:sp>
        <p:nvSpPr>
          <p:cNvPr id="35" name="Text 2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C6B8A"/>
                </a:solidFill>
                <a:latin typeface="Calibri" pitchFamily="34" charset="0"/>
                <a:ea typeface="Calibri" pitchFamily="34" charset="-122"/>
                <a:cs typeface="Calibri" pitchFamily="34" charset="-120"/>
              </a:rPr>
              <a:t>Secure Kubernetes on Azure — Portfolio Showcase</a:t>
            </a:r>
            <a:endParaRPr lang="en-US" sz="900" dirty="0"/>
          </a:p>
        </p:txBody>
      </p:sp>
      <p:sp>
        <p:nvSpPr>
          <p:cNvPr id="36" name="Text 2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51B4A"/>
          </a:solidFill>
          <a:ln/>
        </p:spPr>
      </p:sp>
      <p:pic>
        <p:nvPicPr>
          <p:cNvPr id="3" name="Image 0" descr="preencoded.png">    </p:cNvPr>
          <p:cNvPicPr>
            <a:picLocks noChangeAspect="1"/>
          </p:cNvPicPr>
          <p:nvPr/>
        </p:nvPicPr>
        <p:blipFill>
          <a:blip r:embed="rId1"/>
          <a:stretch>
            <a:fillRect/>
          </a:stretch>
        </p:blipFill>
        <p:spPr>
          <a:xfrm>
            <a:off x="676656" y="585216"/>
            <a:ext cx="384048" cy="384048"/>
          </a:xfrm>
          <a:prstGeom prst="rect">
            <a:avLst/>
          </a:prstGeom>
        </p:spPr>
      </p:pic>
      <p:sp>
        <p:nvSpPr>
          <p:cNvPr id="4" name="Text 1"/>
          <p:cNvSpPr txBox="1"/>
          <p:nvPr/>
        </p:nvSpPr>
        <p:spPr>
          <a:xfrm>
            <a:off x="1371600" y="457200"/>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Day Prod Broke</a:t>
            </a:r>
            <a:endParaRPr lang="en-US" sz="2800" dirty="0"/>
          </a:p>
        </p:txBody>
      </p:sp>
      <p:sp>
        <p:nvSpPr>
          <p:cNvPr id="5" name="Text 2"/>
          <p:cNvSpPr txBox="1"/>
          <p:nvPr/>
        </p:nvSpPr>
        <p:spPr>
          <a:xfrm>
            <a:off x="1371600" y="960120"/>
            <a:ext cx="100584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My prod app sat in ContainerCreating for over 24 hours and I hadn't noticed. Here is how I found it, five layers deep.</a:t>
            </a:r>
            <a:endParaRPr lang="en-US" sz="1300" dirty="0"/>
          </a:p>
        </p:txBody>
      </p:sp>
      <p:sp>
        <p:nvSpPr>
          <p:cNvPr id="6" name="Shape 3"/>
          <p:cNvSpPr/>
          <p:nvPr/>
        </p:nvSpPr>
        <p:spPr>
          <a:xfrm>
            <a:off x="548640" y="1600200"/>
            <a:ext cx="457200" cy="457200"/>
          </a:xfrm>
          <a:prstGeom prst="roundRect">
            <a:avLst>
              <a:gd name="adj" fmla="val 50000"/>
            </a:avLst>
          </a:prstGeom>
          <a:solidFill>
            <a:srgbClr val="00D9C0"/>
          </a:solidFill>
          <a:ln/>
        </p:spPr>
      </p:sp>
      <p:sp>
        <p:nvSpPr>
          <p:cNvPr id="7" name="Text 4"/>
          <p:cNvSpPr txBox="1"/>
          <p:nvPr/>
        </p:nvSpPr>
        <p:spPr>
          <a:xfrm>
            <a:off x="548640" y="1600200"/>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188720" y="1581912"/>
            <a:ext cx="4846320" cy="365760"/>
          </a:xfrm>
          <a:prstGeom prst="rect">
            <a:avLst/>
          </a:prstGeom>
          <a:noFill/>
          <a:ln/>
        </p:spPr>
        <p:txBody>
          <a:bodyPr wrap="square" rtlCol="0" anchor="ctr"/>
          <a:lstStyle/>
          <a:p>
            <a:pPr indent="0" marL="0">
              <a:buNone/>
            </a:pPr>
            <a:r>
              <a:rPr lang="en-US" sz="1250" b="1" dirty="0">
                <a:solidFill>
                  <a:srgbClr val="00D9C0"/>
                </a:solidFill>
                <a:latin typeface="Courier New" pitchFamily="34" charset="0"/>
                <a:ea typeface="Courier New" pitchFamily="34" charset="-122"/>
                <a:cs typeface="Courier New" pitchFamily="34" charset="-120"/>
              </a:rPr>
              <a:t>Invalid vault name: “REPLACE_WITH_KEY_VAULT_NAME”</a:t>
            </a:r>
            <a:endParaRPr lang="en-US" sz="1250" dirty="0"/>
          </a:p>
        </p:txBody>
      </p:sp>
      <p:sp>
        <p:nvSpPr>
          <p:cNvPr id="9" name="Text 6"/>
          <p:cNvSpPr txBox="1"/>
          <p:nvPr/>
        </p:nvSpPr>
        <p:spPr>
          <a:xfrm>
            <a:off x="6172200" y="1581912"/>
            <a:ext cx="5486400" cy="548640"/>
          </a:xfrm>
          <a:prstGeom prst="rect">
            <a:avLst/>
          </a:prstGeom>
          <a:noFill/>
          <a:ln/>
        </p:spPr>
        <p:txBody>
          <a:bodyPr wrap="square"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Prod's overlay was missing a patch dev already had</a:t>
            </a:r>
            <a:endParaRPr lang="en-US" sz="1100" dirty="0"/>
          </a:p>
        </p:txBody>
      </p:sp>
      <p:sp>
        <p:nvSpPr>
          <p:cNvPr id="10" name="Shape 7"/>
          <p:cNvSpPr/>
          <p:nvPr/>
        </p:nvSpPr>
        <p:spPr>
          <a:xfrm>
            <a:off x="548640" y="2359152"/>
            <a:ext cx="457200" cy="457200"/>
          </a:xfrm>
          <a:prstGeom prst="roundRect">
            <a:avLst>
              <a:gd name="adj" fmla="val 50000"/>
            </a:avLst>
          </a:prstGeom>
          <a:solidFill>
            <a:srgbClr val="00D9C0"/>
          </a:solidFill>
          <a:ln/>
        </p:spPr>
      </p:sp>
      <p:sp>
        <p:nvSpPr>
          <p:cNvPr id="11" name="Text 8"/>
          <p:cNvSpPr txBox="1"/>
          <p:nvPr/>
        </p:nvSpPr>
        <p:spPr>
          <a:xfrm>
            <a:off x="548640" y="2359152"/>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188720" y="2340864"/>
            <a:ext cx="4846320" cy="365760"/>
          </a:xfrm>
          <a:prstGeom prst="rect">
            <a:avLst/>
          </a:prstGeom>
          <a:noFill/>
          <a:ln/>
        </p:spPr>
        <p:txBody>
          <a:bodyPr wrap="square" rtlCol="0" anchor="ctr"/>
          <a:lstStyle/>
          <a:p>
            <a:pPr indent="0" marL="0">
              <a:buNone/>
            </a:pPr>
            <a:r>
              <a:rPr lang="en-US" sz="1250" b="1" dirty="0">
                <a:solidFill>
                  <a:srgbClr val="00D9C0"/>
                </a:solidFill>
                <a:latin typeface="Courier New" pitchFamily="34" charset="0"/>
                <a:ea typeface="Courier New" pitchFamily="34" charset="-122"/>
                <a:cs typeface="Courier New" pitchFamily="34" charset="-120"/>
              </a:rPr>
              <a:t>ForbiddenByRbac</a:t>
            </a:r>
            <a:endParaRPr lang="en-US" sz="1250" dirty="0"/>
          </a:p>
        </p:txBody>
      </p:sp>
      <p:sp>
        <p:nvSpPr>
          <p:cNvPr id="13" name="Text 10"/>
          <p:cNvSpPr txBox="1"/>
          <p:nvPr/>
        </p:nvSpPr>
        <p:spPr>
          <a:xfrm>
            <a:off x="6172200" y="2340864"/>
            <a:ext cx="5486400" cy="548640"/>
          </a:xfrm>
          <a:prstGeom prst="rect">
            <a:avLst/>
          </a:prstGeom>
          <a:noFill/>
          <a:ln/>
        </p:spPr>
        <p:txBody>
          <a:bodyPr wrap="square"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Admin identity lacked Key Vault Certificates Officer on that vault</a:t>
            </a:r>
            <a:endParaRPr lang="en-US" sz="1100" dirty="0"/>
          </a:p>
        </p:txBody>
      </p:sp>
      <p:sp>
        <p:nvSpPr>
          <p:cNvPr id="14" name="Shape 11"/>
          <p:cNvSpPr/>
          <p:nvPr/>
        </p:nvSpPr>
        <p:spPr>
          <a:xfrm>
            <a:off x="548640" y="3118104"/>
            <a:ext cx="457200" cy="457200"/>
          </a:xfrm>
          <a:prstGeom prst="roundRect">
            <a:avLst>
              <a:gd name="adj" fmla="val 50000"/>
            </a:avLst>
          </a:prstGeom>
          <a:solidFill>
            <a:srgbClr val="00D9C0"/>
          </a:solidFill>
          <a:ln/>
        </p:spPr>
      </p:sp>
      <p:sp>
        <p:nvSpPr>
          <p:cNvPr id="15" name="Text 12"/>
          <p:cNvSpPr txBox="1"/>
          <p:nvPr/>
        </p:nvSpPr>
        <p:spPr>
          <a:xfrm>
            <a:off x="548640" y="3118104"/>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1188720" y="3099816"/>
            <a:ext cx="4846320" cy="365760"/>
          </a:xfrm>
          <a:prstGeom prst="rect">
            <a:avLst/>
          </a:prstGeom>
          <a:noFill/>
          <a:ln/>
        </p:spPr>
        <p:txBody>
          <a:bodyPr wrap="square" rtlCol="0" anchor="ctr"/>
          <a:lstStyle/>
          <a:p>
            <a:pPr indent="0" marL="0">
              <a:buNone/>
            </a:pPr>
            <a:r>
              <a:rPr lang="en-US" sz="1250" b="1" dirty="0">
                <a:solidFill>
                  <a:srgbClr val="00D9C0"/>
                </a:solidFill>
                <a:latin typeface="Courier New" pitchFamily="34" charset="0"/>
                <a:ea typeface="Courier New" pitchFamily="34" charset="-122"/>
                <a:cs typeface="Courier New" pitchFamily="34" charset="-120"/>
              </a:rPr>
              <a:t>ForbiddenByConnection</a:t>
            </a:r>
            <a:endParaRPr lang="en-US" sz="1250" dirty="0"/>
          </a:p>
        </p:txBody>
      </p:sp>
      <p:sp>
        <p:nvSpPr>
          <p:cNvPr id="17" name="Text 14"/>
          <p:cNvSpPr txBox="1"/>
          <p:nvPr/>
        </p:nvSpPr>
        <p:spPr>
          <a:xfrm>
            <a:off x="6172200" y="3099816"/>
            <a:ext cx="5486400" cy="548640"/>
          </a:xfrm>
          <a:prstGeom prst="rect">
            <a:avLst/>
          </a:prstGeom>
          <a:noFill/>
          <a:ln/>
        </p:spPr>
        <p:txBody>
          <a:bodyPr wrap="square"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Vault is private by design — no VPN/Bastion path in, even for an authorized identity</a:t>
            </a:r>
            <a:endParaRPr lang="en-US" sz="1100" dirty="0"/>
          </a:p>
        </p:txBody>
      </p:sp>
      <p:sp>
        <p:nvSpPr>
          <p:cNvPr id="18" name="Shape 15"/>
          <p:cNvSpPr/>
          <p:nvPr/>
        </p:nvSpPr>
        <p:spPr>
          <a:xfrm>
            <a:off x="548640" y="3877056"/>
            <a:ext cx="457200" cy="457200"/>
          </a:xfrm>
          <a:prstGeom prst="roundRect">
            <a:avLst>
              <a:gd name="adj" fmla="val 50000"/>
            </a:avLst>
          </a:prstGeom>
          <a:solidFill>
            <a:srgbClr val="00D9C0"/>
          </a:solidFill>
          <a:ln/>
        </p:spPr>
      </p:sp>
      <p:sp>
        <p:nvSpPr>
          <p:cNvPr id="19" name="Text 16"/>
          <p:cNvSpPr txBox="1"/>
          <p:nvPr/>
        </p:nvSpPr>
        <p:spPr>
          <a:xfrm>
            <a:off x="548640" y="3877056"/>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1188720" y="3858768"/>
            <a:ext cx="4846320" cy="365760"/>
          </a:xfrm>
          <a:prstGeom prst="rect">
            <a:avLst/>
          </a:prstGeom>
          <a:noFill/>
          <a:ln/>
        </p:spPr>
        <p:txBody>
          <a:bodyPr wrap="square" rtlCol="0" anchor="ctr"/>
          <a:lstStyle/>
          <a:p>
            <a:pPr indent="0" marL="0">
              <a:buNone/>
            </a:pPr>
            <a:r>
              <a:rPr lang="en-US" sz="1250" b="1" dirty="0">
                <a:solidFill>
                  <a:srgbClr val="00D9C0"/>
                </a:solidFill>
                <a:latin typeface="Courier New" pitchFamily="34" charset="0"/>
                <a:ea typeface="Courier New" pitchFamily="34" charset="-122"/>
                <a:cs typeface="Courier New" pitchFamily="34" charset="-120"/>
              </a:rPr>
              <a:t>SecretNotFound (404)</a:t>
            </a:r>
            <a:endParaRPr lang="en-US" sz="1250" dirty="0"/>
          </a:p>
        </p:txBody>
      </p:sp>
      <p:sp>
        <p:nvSpPr>
          <p:cNvPr id="21" name="Text 18"/>
          <p:cNvSpPr txBox="1"/>
          <p:nvPr/>
        </p:nvSpPr>
        <p:spPr>
          <a:xfrm>
            <a:off x="6172200" y="3858768"/>
            <a:ext cx="5486400" cy="548640"/>
          </a:xfrm>
          <a:prstGeom prst="rect">
            <a:avLst/>
          </a:prstGeom>
          <a:noFill/>
          <a:ln/>
        </p:spPr>
        <p:txBody>
          <a:bodyPr wrap="square"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The TLS certificate simply didn't exist in prod's vault yet</a:t>
            </a:r>
            <a:endParaRPr lang="en-US" sz="1100" dirty="0"/>
          </a:p>
        </p:txBody>
      </p:sp>
      <p:sp>
        <p:nvSpPr>
          <p:cNvPr id="22" name="Shape 19"/>
          <p:cNvSpPr/>
          <p:nvPr/>
        </p:nvSpPr>
        <p:spPr>
          <a:xfrm>
            <a:off x="548640" y="4636008"/>
            <a:ext cx="457200" cy="457200"/>
          </a:xfrm>
          <a:prstGeom prst="roundRect">
            <a:avLst>
              <a:gd name="adj" fmla="val 50000"/>
            </a:avLst>
          </a:prstGeom>
          <a:solidFill>
            <a:srgbClr val="00D9C0"/>
          </a:solidFill>
          <a:ln/>
        </p:spPr>
      </p:sp>
      <p:sp>
        <p:nvSpPr>
          <p:cNvPr id="23" name="Text 20"/>
          <p:cNvSpPr txBox="1"/>
          <p:nvPr/>
        </p:nvSpPr>
        <p:spPr>
          <a:xfrm>
            <a:off x="548640" y="4636008"/>
            <a:ext cx="45720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5</a:t>
            </a:r>
            <a:endParaRPr lang="en-US" sz="1400" dirty="0"/>
          </a:p>
        </p:txBody>
      </p:sp>
      <p:sp>
        <p:nvSpPr>
          <p:cNvPr id="24" name="Text 21"/>
          <p:cNvSpPr txBox="1"/>
          <p:nvPr/>
        </p:nvSpPr>
        <p:spPr>
          <a:xfrm>
            <a:off x="1188720" y="4617720"/>
            <a:ext cx="4846320" cy="365760"/>
          </a:xfrm>
          <a:prstGeom prst="rect">
            <a:avLst/>
          </a:prstGeom>
          <a:noFill/>
          <a:ln/>
        </p:spPr>
        <p:txBody>
          <a:bodyPr wrap="square" rtlCol="0" anchor="ctr"/>
          <a:lstStyle/>
          <a:p>
            <a:pPr indent="0" marL="0">
              <a:buNone/>
            </a:pPr>
            <a:r>
              <a:rPr lang="en-US" sz="1250" b="1" dirty="0">
                <a:solidFill>
                  <a:srgbClr val="00D9C0"/>
                </a:solidFill>
                <a:latin typeface="Courier New" pitchFamily="34" charset="0"/>
                <a:ea typeface="Courier New" pitchFamily="34" charset="-122"/>
                <a:cs typeface="Courier New" pitchFamily="34" charset="-120"/>
              </a:rPr>
              <a:t>InvalidImageName</a:t>
            </a:r>
            <a:endParaRPr lang="en-US" sz="1250" dirty="0"/>
          </a:p>
        </p:txBody>
      </p:sp>
      <p:sp>
        <p:nvSpPr>
          <p:cNvPr id="25" name="Text 22"/>
          <p:cNvSpPr txBox="1"/>
          <p:nvPr/>
        </p:nvSpPr>
        <p:spPr>
          <a:xfrm>
            <a:off x="6172200" y="4617720"/>
            <a:ext cx="5486400" cy="548640"/>
          </a:xfrm>
          <a:prstGeom prst="rect">
            <a:avLst/>
          </a:prstGeom>
          <a:noFill/>
          <a:ln/>
        </p:spPr>
        <p:txBody>
          <a:bodyPr wrap="square"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A manual kustomize apply bypassed CI's image-substitution step mid-recovery</a:t>
            </a:r>
            <a:endParaRPr lang="en-US" sz="1100" dirty="0"/>
          </a:p>
        </p:txBody>
      </p:sp>
      <p:sp>
        <p:nvSpPr>
          <p:cNvPr id="26" name="Text 23"/>
          <p:cNvSpPr txBox="1"/>
          <p:nvPr/>
        </p:nvSpPr>
        <p:spPr>
          <a:xfrm>
            <a:off x="548640" y="5532120"/>
            <a:ext cx="10972800" cy="365760"/>
          </a:xfrm>
          <a:prstGeom prst="rect">
            <a:avLst/>
          </a:prstGeom>
          <a:noFill/>
          <a:ln/>
        </p:spPr>
        <p:txBody>
          <a:bodyPr wrap="square" rtlCol="0" anchor="ctr"/>
          <a:lstStyle/>
          <a:p>
            <a:pPr indent="0" marL="0">
              <a:buNone/>
            </a:pPr>
            <a:r>
              <a:rPr lang="en-US" sz="1050" i="1" dirty="0">
                <a:solidFill>
                  <a:srgbClr val="8891C0"/>
                </a:solidFill>
                <a:latin typeface="Calibri" pitchFamily="34" charset="0"/>
                <a:ea typeface="Calibri" pitchFamily="34" charset="-122"/>
                <a:cs typeface="Calibri" pitchFamily="34" charset="-120"/>
              </a:rPr>
              <a:t>Full root-cause timeline: docs/webplat-architecture.md → “Incident: prod SecretProviderClass never patched”</a:t>
            </a:r>
            <a:endParaRPr lang="en-US" sz="1050" dirty="0"/>
          </a:p>
        </p:txBody>
      </p:sp>
      <p:sp>
        <p:nvSpPr>
          <p:cNvPr id="28" name="Text 2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8891C0"/>
                </a:solidFill>
                <a:latin typeface="Calibri" pitchFamily="34" charset="0"/>
                <a:ea typeface="Calibri" pitchFamily="34" charset="-122"/>
                <a:cs typeface="Calibri" pitchFamily="34" charset="-120"/>
              </a:rPr>
              <a:t>Secure Kubernetes on Azure — Portfolio Showcase</a:t>
            </a:r>
            <a:endParaRPr lang="en-US" sz="900" dirty="0"/>
          </a:p>
        </p:txBody>
      </p:sp>
      <p:sp>
        <p:nvSpPr>
          <p:cNvPr id="29" name="Text 2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891C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4864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Kubernetes in Plain Language</a:t>
            </a:r>
            <a:endParaRPr lang="en-US" sz="3000" dirty="0"/>
          </a:p>
        </p:txBody>
      </p:sp>
      <p:sp>
        <p:nvSpPr>
          <p:cNvPr id="3" name="Text 1"/>
          <p:cNvSpPr txBox="1"/>
          <p:nvPr/>
        </p:nvSpPr>
        <p:spPr>
          <a:xfrm>
            <a:off x="548640" y="896112"/>
            <a:ext cx="9144000" cy="365760"/>
          </a:xfrm>
          <a:prstGeom prst="rect">
            <a:avLst/>
          </a:prstGeom>
          <a:noFill/>
          <a:ln/>
        </p:spPr>
        <p:txBody>
          <a:bodyPr wrap="square" rtlCol="0" anchor="ctr"/>
          <a:lstStyle/>
          <a:p>
            <a:pPr indent="0" marL="0">
              <a:buNone/>
            </a:pPr>
            <a:r>
              <a:rPr lang="en-US" sz="1300" dirty="0">
                <a:solidFill>
                  <a:srgbClr val="5C6B8A"/>
                </a:solidFill>
                <a:latin typeface="Calibri" pitchFamily="34" charset="0"/>
                <a:ea typeface="Calibri" pitchFamily="34" charset="-122"/>
                <a:cs typeface="Calibri" pitchFamily="34" charset="-120"/>
              </a:rPr>
              <a:t>The terms I'll use today, explained the way I use them in this project</a:t>
            </a:r>
            <a:endParaRPr lang="en-US" sz="1300" dirty="0"/>
          </a:p>
        </p:txBody>
      </p:sp>
      <p:sp>
        <p:nvSpPr>
          <p:cNvPr id="4" name="Text 2"/>
          <p:cNvSpPr txBox="1"/>
          <p:nvPr/>
        </p:nvSpPr>
        <p:spPr>
          <a:xfrm>
            <a:off x="548640" y="1508760"/>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Pod</a:t>
            </a:r>
            <a:endParaRPr lang="en-US" sz="1300" dirty="0"/>
          </a:p>
        </p:txBody>
      </p:sp>
      <p:sp>
        <p:nvSpPr>
          <p:cNvPr id="5" name="Text 3"/>
          <p:cNvSpPr txBox="1"/>
          <p:nvPr/>
        </p:nvSpPr>
        <p:spPr>
          <a:xfrm>
            <a:off x="548640" y="1801368"/>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The smallest deployable unit — one or more containers sharing network/storage</a:t>
            </a:r>
            <a:endParaRPr lang="en-US" sz="1050" dirty="0"/>
          </a:p>
        </p:txBody>
      </p:sp>
      <p:sp>
        <p:nvSpPr>
          <p:cNvPr id="6" name="Text 4"/>
          <p:cNvSpPr txBox="1"/>
          <p:nvPr/>
        </p:nvSpPr>
        <p:spPr>
          <a:xfrm>
            <a:off x="6263640" y="1508760"/>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Node</a:t>
            </a:r>
            <a:endParaRPr lang="en-US" sz="1300" dirty="0"/>
          </a:p>
        </p:txBody>
      </p:sp>
      <p:sp>
        <p:nvSpPr>
          <p:cNvPr id="7" name="Text 5"/>
          <p:cNvSpPr txBox="1"/>
          <p:nvPr/>
        </p:nvSpPr>
        <p:spPr>
          <a:xfrm>
            <a:off x="6263640" y="1801368"/>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A VM that runs pods — here, an Azure VM Scale Set instance</a:t>
            </a:r>
            <a:endParaRPr lang="en-US" sz="1050" dirty="0"/>
          </a:p>
        </p:txBody>
      </p:sp>
      <p:sp>
        <p:nvSpPr>
          <p:cNvPr id="8" name="Text 6"/>
          <p:cNvSpPr txBox="1"/>
          <p:nvPr/>
        </p:nvSpPr>
        <p:spPr>
          <a:xfrm>
            <a:off x="548640" y="2295144"/>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Deployment</a:t>
            </a:r>
            <a:endParaRPr lang="en-US" sz="1300" dirty="0"/>
          </a:p>
        </p:txBody>
      </p:sp>
      <p:sp>
        <p:nvSpPr>
          <p:cNvPr id="9" name="Text 7"/>
          <p:cNvSpPr txBox="1"/>
          <p:nvPr/>
        </p:nvSpPr>
        <p:spPr>
          <a:xfrm>
            <a:off x="548640" y="2587752"/>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Declares “I want N copies running” and reconciles reality toward that</a:t>
            </a:r>
            <a:endParaRPr lang="en-US" sz="1050" dirty="0"/>
          </a:p>
        </p:txBody>
      </p:sp>
      <p:sp>
        <p:nvSpPr>
          <p:cNvPr id="10" name="Text 8"/>
          <p:cNvSpPr txBox="1"/>
          <p:nvPr/>
        </p:nvSpPr>
        <p:spPr>
          <a:xfrm>
            <a:off x="6263640" y="2295144"/>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ReplicaSet</a:t>
            </a:r>
            <a:endParaRPr lang="en-US" sz="1300" dirty="0"/>
          </a:p>
        </p:txBody>
      </p:sp>
      <p:sp>
        <p:nvSpPr>
          <p:cNvPr id="11" name="Text 9"/>
          <p:cNvSpPr txBox="1"/>
          <p:nvPr/>
        </p:nvSpPr>
        <p:spPr>
          <a:xfrm>
            <a:off x="6263640" y="2587752"/>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The Deployment's mechanism — a new one on every pod-template change</a:t>
            </a:r>
            <a:endParaRPr lang="en-US" sz="1050" dirty="0"/>
          </a:p>
        </p:txBody>
      </p:sp>
      <p:sp>
        <p:nvSpPr>
          <p:cNvPr id="12" name="Text 10"/>
          <p:cNvSpPr txBox="1"/>
          <p:nvPr/>
        </p:nvSpPr>
        <p:spPr>
          <a:xfrm>
            <a:off x="548640" y="3081528"/>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Service</a:t>
            </a:r>
            <a:endParaRPr lang="en-US" sz="1300" dirty="0"/>
          </a:p>
        </p:txBody>
      </p:sp>
      <p:sp>
        <p:nvSpPr>
          <p:cNvPr id="13" name="Text 11"/>
          <p:cNvSpPr txBox="1"/>
          <p:nvPr/>
        </p:nvSpPr>
        <p:spPr>
          <a:xfrm>
            <a:off x="548640" y="3374136"/>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A stable network identity for pods, even as pod IPs come and go</a:t>
            </a:r>
            <a:endParaRPr lang="en-US" sz="1050" dirty="0"/>
          </a:p>
        </p:txBody>
      </p:sp>
      <p:sp>
        <p:nvSpPr>
          <p:cNvPr id="14" name="Text 12"/>
          <p:cNvSpPr txBox="1"/>
          <p:nvPr/>
        </p:nvSpPr>
        <p:spPr>
          <a:xfrm>
            <a:off x="6263640" y="3081528"/>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Ingress</a:t>
            </a:r>
            <a:endParaRPr lang="en-US" sz="1300" dirty="0"/>
          </a:p>
        </p:txBody>
      </p:sp>
      <p:sp>
        <p:nvSpPr>
          <p:cNvPr id="15" name="Text 13"/>
          <p:cNvSpPr txBox="1"/>
          <p:nvPr/>
        </p:nvSpPr>
        <p:spPr>
          <a:xfrm>
            <a:off x="6263640" y="3374136"/>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A declarative routing rule; needs a controller (AGIC) to act on it</a:t>
            </a:r>
            <a:endParaRPr lang="en-US" sz="1050" dirty="0"/>
          </a:p>
        </p:txBody>
      </p:sp>
      <p:sp>
        <p:nvSpPr>
          <p:cNvPr id="16" name="Text 14"/>
          <p:cNvSpPr txBox="1"/>
          <p:nvPr/>
        </p:nvSpPr>
        <p:spPr>
          <a:xfrm>
            <a:off x="548640" y="3867912"/>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HPA</a:t>
            </a:r>
            <a:endParaRPr lang="en-US" sz="1300" dirty="0"/>
          </a:p>
        </p:txBody>
      </p:sp>
      <p:sp>
        <p:nvSpPr>
          <p:cNvPr id="17" name="Text 15"/>
          <p:cNvSpPr txBox="1"/>
          <p:nvPr/>
        </p:nvSpPr>
        <p:spPr>
          <a:xfrm>
            <a:off x="548640" y="4160520"/>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Horizontal Pod Autoscaler — changes replica count based on live metrics</a:t>
            </a:r>
            <a:endParaRPr lang="en-US" sz="1050" dirty="0"/>
          </a:p>
        </p:txBody>
      </p:sp>
      <p:sp>
        <p:nvSpPr>
          <p:cNvPr id="18" name="Text 16"/>
          <p:cNvSpPr txBox="1"/>
          <p:nvPr/>
        </p:nvSpPr>
        <p:spPr>
          <a:xfrm>
            <a:off x="6263640" y="3867912"/>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CSI driver</a:t>
            </a:r>
            <a:endParaRPr lang="en-US" sz="1300" dirty="0"/>
          </a:p>
        </p:txBody>
      </p:sp>
      <p:sp>
        <p:nvSpPr>
          <p:cNvPr id="19" name="Text 17"/>
          <p:cNvSpPr txBox="1"/>
          <p:nvPr/>
        </p:nvSpPr>
        <p:spPr>
          <a:xfrm>
            <a:off x="6263640" y="4160520"/>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A plugin standard for mounting external storage/secrets into pods</a:t>
            </a:r>
            <a:endParaRPr lang="en-US" sz="1050" dirty="0"/>
          </a:p>
        </p:txBody>
      </p:sp>
      <p:sp>
        <p:nvSpPr>
          <p:cNvPr id="20" name="Text 18"/>
          <p:cNvSpPr txBox="1"/>
          <p:nvPr/>
        </p:nvSpPr>
        <p:spPr>
          <a:xfrm>
            <a:off x="548640" y="4654296"/>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Managed Identity</a:t>
            </a:r>
            <a:endParaRPr lang="en-US" sz="1300" dirty="0"/>
          </a:p>
        </p:txBody>
      </p:sp>
      <p:sp>
        <p:nvSpPr>
          <p:cNvPr id="21" name="Text 19"/>
          <p:cNvSpPr txBox="1"/>
          <p:nvPr/>
        </p:nvSpPr>
        <p:spPr>
          <a:xfrm>
            <a:off x="548640" y="4946904"/>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An Azure AD identity Azure manages the credential for — no key to leak</a:t>
            </a:r>
            <a:endParaRPr lang="en-US" sz="1050" dirty="0"/>
          </a:p>
        </p:txBody>
      </p:sp>
      <p:sp>
        <p:nvSpPr>
          <p:cNvPr id="22" name="Text 20"/>
          <p:cNvSpPr txBox="1"/>
          <p:nvPr/>
        </p:nvSpPr>
        <p:spPr>
          <a:xfrm>
            <a:off x="6263640" y="4654296"/>
            <a:ext cx="534924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Private cluster</a:t>
            </a:r>
            <a:endParaRPr lang="en-US" sz="1300" dirty="0"/>
          </a:p>
        </p:txBody>
      </p:sp>
      <p:sp>
        <p:nvSpPr>
          <p:cNvPr id="23" name="Text 21"/>
          <p:cNvSpPr txBox="1"/>
          <p:nvPr/>
        </p:nvSpPr>
        <p:spPr>
          <a:xfrm>
            <a:off x="6263640" y="4946904"/>
            <a:ext cx="5349240" cy="457200"/>
          </a:xfrm>
          <a:prstGeom prst="rect">
            <a:avLst/>
          </a:prstGeom>
          <a:noFill/>
          <a:ln/>
        </p:spPr>
        <p:txBody>
          <a:bodyPr wrap="square" rtlCol="0" anchor="ctr"/>
          <a:lstStyle/>
          <a:p>
            <a:pPr indent="0" marL="0">
              <a:lnSpc>
                <a:spcPct val="110000"/>
              </a:lnSpc>
              <a:buNone/>
            </a:pPr>
            <a:r>
              <a:rPr lang="en-US" sz="1050" dirty="0">
                <a:solidFill>
                  <a:srgbClr val="5C6B8A"/>
                </a:solidFill>
                <a:latin typeface="Calibri" pitchFamily="34" charset="0"/>
                <a:ea typeface="Calibri" pitchFamily="34" charset="-122"/>
                <a:cs typeface="Calibri" pitchFamily="34" charset="-120"/>
              </a:rPr>
              <a:t>The Kubernetes API server has no public IP at all</a:t>
            </a:r>
            <a:endParaRPr lang="en-US" sz="1050" dirty="0"/>
          </a:p>
        </p:txBody>
      </p:sp>
      <p:sp>
        <p:nvSpPr>
          <p:cNvPr id="25" name="Text 2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C6B8A"/>
                </a:solidFill>
                <a:latin typeface="Calibri" pitchFamily="34" charset="0"/>
                <a:ea typeface="Calibri" pitchFamily="34" charset="-122"/>
                <a:cs typeface="Calibri" pitchFamily="34" charset="-120"/>
              </a:rPr>
              <a:t>Secure Kubernetes on Azure — Portfolio Showcase</a:t>
            </a:r>
            <a:endParaRPr lang="en-US" sz="900" dirty="0"/>
          </a:p>
        </p:txBody>
      </p:sp>
      <p:sp>
        <p:nvSpPr>
          <p:cNvPr id="26"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4864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Where I'd Use This Pattern</a:t>
            </a:r>
            <a:endParaRPr lang="en-US" sz="3000" dirty="0"/>
          </a:p>
        </p:txBody>
      </p:sp>
      <p:sp>
        <p:nvSpPr>
          <p:cNvPr id="3" name="Shape 1"/>
          <p:cNvSpPr/>
          <p:nvPr/>
        </p:nvSpPr>
        <p:spPr>
          <a:xfrm>
            <a:off x="548640" y="1371600"/>
            <a:ext cx="5349240" cy="2103120"/>
          </a:xfrm>
          <a:prstGeom prst="roundRect">
            <a:avLst>
              <a:gd name="adj" fmla="val 4348"/>
            </a:avLst>
          </a:prstGeom>
          <a:solidFill>
            <a:srgbClr val="F4F7FE"/>
          </a:solidFill>
          <a:ln/>
          <a:effectLst>
            <a:outerShdw sx="100000" sy="100000" kx="0" ky="0" algn="bl" rotWithShape="0" blurRad="63500" dist="25400" dir="5400000">
              <a:srgbClr val="1E2761">
                <a:alpha val="10000"/>
              </a:srgbClr>
            </a:outerShdw>
          </a:effectLst>
        </p:spPr>
      </p:sp>
      <p:sp>
        <p:nvSpPr>
          <p:cNvPr id="4" name="Shape 2"/>
          <p:cNvSpPr/>
          <p:nvPr/>
        </p:nvSpPr>
        <p:spPr>
          <a:xfrm>
            <a:off x="822960" y="1645920"/>
            <a:ext cx="640080" cy="64008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966978" y="1789938"/>
            <a:ext cx="352044" cy="352044"/>
          </a:xfrm>
          <a:prstGeom prst="rect">
            <a:avLst/>
          </a:prstGeom>
        </p:spPr>
      </p:pic>
      <p:sp>
        <p:nvSpPr>
          <p:cNvPr id="6" name="Text 3"/>
          <p:cNvSpPr txBox="1"/>
          <p:nvPr/>
        </p:nvSpPr>
        <p:spPr>
          <a:xfrm>
            <a:off x="1645920" y="1645920"/>
            <a:ext cx="3977640" cy="640080"/>
          </a:xfrm>
          <a:prstGeom prst="rect">
            <a:avLst/>
          </a:prstGeom>
          <a:noFill/>
          <a:ln/>
        </p:spPr>
        <p:txBody>
          <a:bodyPr wrap="square" rtlCol="0" anchor="t"/>
          <a:lstStyle/>
          <a:p>
            <a:pPr indent="0" marL="0">
              <a:lnSpc>
                <a:spcPct val="110000"/>
              </a:lnSpc>
              <a:buNone/>
            </a:pPr>
            <a:r>
              <a:rPr lang="en-US" sz="1500" b="1" dirty="0">
                <a:solidFill>
                  <a:srgbClr val="1A1A2E"/>
                </a:solidFill>
                <a:latin typeface="Calibri" pitchFamily="34" charset="0"/>
                <a:ea typeface="Calibri" pitchFamily="34" charset="-122"/>
                <a:cs typeface="Calibri" pitchFamily="34" charset="-120"/>
              </a:rPr>
              <a:t>Company websites with an SLA</a:t>
            </a:r>
            <a:endParaRPr lang="en-US" sz="1500" dirty="0"/>
          </a:p>
        </p:txBody>
      </p:sp>
      <p:sp>
        <p:nvSpPr>
          <p:cNvPr id="7" name="Text 4"/>
          <p:cNvSpPr txBox="1"/>
          <p:nvPr/>
        </p:nvSpPr>
        <p:spPr>
          <a:xfrm>
            <a:off x="822960" y="2514600"/>
            <a:ext cx="4800600" cy="822960"/>
          </a:xfrm>
          <a:prstGeom prst="rect">
            <a:avLst/>
          </a:prstGeom>
          <a:noFill/>
          <a:ln/>
        </p:spPr>
        <p:txBody>
          <a:bodyPr wrap="square" rtlCol="0" anchor="ctr"/>
          <a:lstStyle/>
          <a:p>
            <a:pPr indent="0" marL="0">
              <a:lnSpc>
                <a:spcPct val="120000"/>
              </a:lnSpc>
              <a:buNone/>
            </a:pPr>
            <a:r>
              <a:rPr lang="en-US" sz="1100" dirty="0">
                <a:solidFill>
                  <a:srgbClr val="5C6B8A"/>
                </a:solidFill>
                <a:latin typeface="Calibri" pitchFamily="34" charset="0"/>
                <a:ea typeface="Calibri" pitchFamily="34" charset="-122"/>
                <a:cs typeface="Calibri" pitchFamily="34" charset="-120"/>
              </a:rPr>
              <a:t>Where “the site is down” is a business incident, not an inconvenience</a:t>
            </a:r>
            <a:endParaRPr lang="en-US" sz="1100" dirty="0"/>
          </a:p>
        </p:txBody>
      </p:sp>
      <p:sp>
        <p:nvSpPr>
          <p:cNvPr id="8" name="Shape 5"/>
          <p:cNvSpPr/>
          <p:nvPr/>
        </p:nvSpPr>
        <p:spPr>
          <a:xfrm>
            <a:off x="6263640" y="1371600"/>
            <a:ext cx="5349240" cy="2103120"/>
          </a:xfrm>
          <a:prstGeom prst="roundRect">
            <a:avLst>
              <a:gd name="adj" fmla="val 4348"/>
            </a:avLst>
          </a:prstGeom>
          <a:solidFill>
            <a:srgbClr val="F4F7FE"/>
          </a:solidFill>
          <a:ln/>
          <a:effectLst>
            <a:outerShdw sx="100000" sy="100000" kx="0" ky="0" algn="bl" rotWithShape="0" blurRad="63500" dist="25400" dir="5400000">
              <a:srgbClr val="1E2761">
                <a:alpha val="10000"/>
              </a:srgbClr>
            </a:outerShdw>
          </a:effectLst>
        </p:spPr>
      </p:sp>
      <p:sp>
        <p:nvSpPr>
          <p:cNvPr id="9" name="Shape 6"/>
          <p:cNvSpPr/>
          <p:nvPr/>
        </p:nvSpPr>
        <p:spPr>
          <a:xfrm>
            <a:off x="6537960" y="1645920"/>
            <a:ext cx="640080" cy="640080"/>
          </a:xfrm>
          <a:prstGeom prst="ellipse">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6681978" y="1789938"/>
            <a:ext cx="352044" cy="352044"/>
          </a:xfrm>
          <a:prstGeom prst="rect">
            <a:avLst/>
          </a:prstGeom>
        </p:spPr>
      </p:pic>
      <p:sp>
        <p:nvSpPr>
          <p:cNvPr id="11" name="Text 7"/>
          <p:cNvSpPr txBox="1"/>
          <p:nvPr/>
        </p:nvSpPr>
        <p:spPr>
          <a:xfrm>
            <a:off x="7360920" y="1645920"/>
            <a:ext cx="3977640" cy="640080"/>
          </a:xfrm>
          <a:prstGeom prst="rect">
            <a:avLst/>
          </a:prstGeom>
          <a:noFill/>
          <a:ln/>
        </p:spPr>
        <p:txBody>
          <a:bodyPr wrap="square" rtlCol="0" anchor="t"/>
          <a:lstStyle/>
          <a:p>
            <a:pPr indent="0" marL="0">
              <a:lnSpc>
                <a:spcPct val="110000"/>
              </a:lnSpc>
              <a:buNone/>
            </a:pPr>
            <a:r>
              <a:rPr lang="en-US" sz="1500" b="1" dirty="0">
                <a:solidFill>
                  <a:srgbClr val="1A1A2E"/>
                </a:solidFill>
                <a:latin typeface="Calibri" pitchFamily="34" charset="0"/>
                <a:ea typeface="Calibri" pitchFamily="34" charset="-122"/>
                <a:cs typeface="Calibri" pitchFamily="34" charset="-120"/>
              </a:rPr>
              <a:t>Private line-of-business apps</a:t>
            </a:r>
            <a:endParaRPr lang="en-US" sz="1500" dirty="0"/>
          </a:p>
        </p:txBody>
      </p:sp>
      <p:sp>
        <p:nvSpPr>
          <p:cNvPr id="12" name="Text 8"/>
          <p:cNvSpPr txBox="1"/>
          <p:nvPr/>
        </p:nvSpPr>
        <p:spPr>
          <a:xfrm>
            <a:off x="6537960" y="2514600"/>
            <a:ext cx="4800600" cy="822960"/>
          </a:xfrm>
          <a:prstGeom prst="rect">
            <a:avLst/>
          </a:prstGeom>
          <a:noFill/>
          <a:ln/>
        </p:spPr>
        <p:txBody>
          <a:bodyPr wrap="square" rtlCol="0" anchor="ctr"/>
          <a:lstStyle/>
          <a:p>
            <a:pPr indent="0" marL="0">
              <a:lnSpc>
                <a:spcPct val="120000"/>
              </a:lnSpc>
              <a:buNone/>
            </a:pPr>
            <a:r>
              <a:rPr lang="en-US" sz="1100" dirty="0">
                <a:solidFill>
                  <a:srgbClr val="5C6B8A"/>
                </a:solidFill>
                <a:latin typeface="Calibri" pitchFamily="34" charset="0"/>
                <a:ea typeface="Calibri" pitchFamily="34" charset="-122"/>
                <a:cs typeface="Calibri" pitchFamily="34" charset="-120"/>
              </a:rPr>
              <a:t>Need network isolation but still a public-facing front door</a:t>
            </a:r>
            <a:endParaRPr lang="en-US" sz="1100" dirty="0"/>
          </a:p>
        </p:txBody>
      </p:sp>
      <p:sp>
        <p:nvSpPr>
          <p:cNvPr id="13" name="Shape 9"/>
          <p:cNvSpPr/>
          <p:nvPr/>
        </p:nvSpPr>
        <p:spPr>
          <a:xfrm>
            <a:off x="548640" y="3794760"/>
            <a:ext cx="5349240" cy="2103120"/>
          </a:xfrm>
          <a:prstGeom prst="roundRect">
            <a:avLst>
              <a:gd name="adj" fmla="val 4348"/>
            </a:avLst>
          </a:prstGeom>
          <a:solidFill>
            <a:srgbClr val="F4F7FE"/>
          </a:solidFill>
          <a:ln/>
          <a:effectLst>
            <a:outerShdw sx="100000" sy="100000" kx="0" ky="0" algn="bl" rotWithShape="0" blurRad="63500" dist="25400" dir="5400000">
              <a:srgbClr val="1E2761">
                <a:alpha val="10000"/>
              </a:srgbClr>
            </a:outerShdw>
          </a:effectLst>
        </p:spPr>
      </p:sp>
      <p:sp>
        <p:nvSpPr>
          <p:cNvPr id="14" name="Shape 10"/>
          <p:cNvSpPr/>
          <p:nvPr/>
        </p:nvSpPr>
        <p:spPr>
          <a:xfrm>
            <a:off x="822960" y="4069080"/>
            <a:ext cx="640080" cy="640080"/>
          </a:xfrm>
          <a:prstGeom prst="ellipse">
            <a:avLst/>
          </a:prstGeom>
          <a:solidFill>
            <a:srgbClr val="1E2761"/>
          </a:solidFill>
          <a:ln/>
        </p:spPr>
      </p:sp>
      <p:pic>
        <p:nvPicPr>
          <p:cNvPr id="15" name="Image 2" descr="preencoded.png">    </p:cNvPr>
          <p:cNvPicPr>
            <a:picLocks noChangeAspect="1"/>
          </p:cNvPicPr>
          <p:nvPr/>
        </p:nvPicPr>
        <p:blipFill>
          <a:blip r:embed="rId3"/>
          <a:stretch>
            <a:fillRect/>
          </a:stretch>
        </p:blipFill>
        <p:spPr>
          <a:xfrm>
            <a:off x="966978" y="4213098"/>
            <a:ext cx="352044" cy="352044"/>
          </a:xfrm>
          <a:prstGeom prst="rect">
            <a:avLst/>
          </a:prstGeom>
        </p:spPr>
      </p:pic>
      <p:sp>
        <p:nvSpPr>
          <p:cNvPr id="16" name="Text 11"/>
          <p:cNvSpPr txBox="1"/>
          <p:nvPr/>
        </p:nvSpPr>
        <p:spPr>
          <a:xfrm>
            <a:off x="1645920" y="4069080"/>
            <a:ext cx="3977640" cy="640080"/>
          </a:xfrm>
          <a:prstGeom prst="rect">
            <a:avLst/>
          </a:prstGeom>
          <a:noFill/>
          <a:ln/>
        </p:spPr>
        <p:txBody>
          <a:bodyPr wrap="square" rtlCol="0" anchor="t"/>
          <a:lstStyle/>
          <a:p>
            <a:pPr indent="0" marL="0">
              <a:lnSpc>
                <a:spcPct val="110000"/>
              </a:lnSpc>
              <a:buNone/>
            </a:pPr>
            <a:r>
              <a:rPr lang="en-US" sz="1500" b="1" dirty="0">
                <a:solidFill>
                  <a:srgbClr val="1A1A2E"/>
                </a:solidFill>
                <a:latin typeface="Calibri" pitchFamily="34" charset="0"/>
                <a:ea typeface="Calibri" pitchFamily="34" charset="-122"/>
                <a:cs typeface="Calibri" pitchFamily="34" charset="-120"/>
              </a:rPr>
              <a:t>Client engagement reference</a:t>
            </a:r>
            <a:endParaRPr lang="en-US" sz="1500" dirty="0"/>
          </a:p>
        </p:txBody>
      </p:sp>
      <p:sp>
        <p:nvSpPr>
          <p:cNvPr id="17" name="Text 12"/>
          <p:cNvSpPr txBox="1"/>
          <p:nvPr/>
        </p:nvSpPr>
        <p:spPr>
          <a:xfrm>
            <a:off x="822960" y="4937760"/>
            <a:ext cx="4800600" cy="822960"/>
          </a:xfrm>
          <a:prstGeom prst="rect">
            <a:avLst/>
          </a:prstGeom>
          <a:noFill/>
          <a:ln/>
        </p:spPr>
        <p:txBody>
          <a:bodyPr wrap="square" rtlCol="0" anchor="ctr"/>
          <a:lstStyle/>
          <a:p>
            <a:pPr indent="0" marL="0">
              <a:lnSpc>
                <a:spcPct val="120000"/>
              </a:lnSpc>
              <a:buNone/>
            </a:pPr>
            <a:r>
              <a:rPr lang="en-US" sz="1100" dirty="0">
                <a:solidFill>
                  <a:srgbClr val="5C6B8A"/>
                </a:solidFill>
                <a:latin typeface="Calibri" pitchFamily="34" charset="0"/>
                <a:ea typeface="Calibri" pitchFamily="34" charset="-122"/>
                <a:cs typeface="Calibri" pitchFamily="34" charset="-120"/>
              </a:rPr>
              <a:t>Every piece answers a security-conscious procurement checklist</a:t>
            </a:r>
            <a:endParaRPr lang="en-US" sz="1100" dirty="0"/>
          </a:p>
        </p:txBody>
      </p:sp>
      <p:sp>
        <p:nvSpPr>
          <p:cNvPr id="18" name="Shape 13"/>
          <p:cNvSpPr/>
          <p:nvPr/>
        </p:nvSpPr>
        <p:spPr>
          <a:xfrm>
            <a:off x="6263640" y="3794760"/>
            <a:ext cx="5349240" cy="2103120"/>
          </a:xfrm>
          <a:prstGeom prst="roundRect">
            <a:avLst>
              <a:gd name="adj" fmla="val 4348"/>
            </a:avLst>
          </a:prstGeom>
          <a:solidFill>
            <a:srgbClr val="F4F7FE"/>
          </a:solidFill>
          <a:ln/>
          <a:effectLst>
            <a:outerShdw sx="100000" sy="100000" kx="0" ky="0" algn="bl" rotWithShape="0" blurRad="63500" dist="25400" dir="5400000">
              <a:srgbClr val="1E2761">
                <a:alpha val="10000"/>
              </a:srgbClr>
            </a:outerShdw>
          </a:effectLst>
        </p:spPr>
      </p:sp>
      <p:sp>
        <p:nvSpPr>
          <p:cNvPr id="19" name="Shape 14"/>
          <p:cNvSpPr/>
          <p:nvPr/>
        </p:nvSpPr>
        <p:spPr>
          <a:xfrm>
            <a:off x="6537960" y="4069080"/>
            <a:ext cx="640080" cy="640080"/>
          </a:xfrm>
          <a:prstGeom prst="ellipse">
            <a:avLst/>
          </a:prstGeom>
          <a:solidFill>
            <a:srgbClr val="1E2761"/>
          </a:solidFill>
          <a:ln/>
        </p:spPr>
      </p:sp>
      <p:pic>
        <p:nvPicPr>
          <p:cNvPr id="20" name="Image 3" descr="preencoded.png">    </p:cNvPr>
          <p:cNvPicPr>
            <a:picLocks noChangeAspect="1"/>
          </p:cNvPicPr>
          <p:nvPr/>
        </p:nvPicPr>
        <p:blipFill>
          <a:blip r:embed="rId4"/>
          <a:stretch>
            <a:fillRect/>
          </a:stretch>
        </p:blipFill>
        <p:spPr>
          <a:xfrm>
            <a:off x="6681978" y="4213098"/>
            <a:ext cx="352044" cy="352044"/>
          </a:xfrm>
          <a:prstGeom prst="rect">
            <a:avLst/>
          </a:prstGeom>
        </p:spPr>
      </p:pic>
      <p:sp>
        <p:nvSpPr>
          <p:cNvPr id="21" name="Text 15"/>
          <p:cNvSpPr txBox="1"/>
          <p:nvPr/>
        </p:nvSpPr>
        <p:spPr>
          <a:xfrm>
            <a:off x="7360920" y="4069080"/>
            <a:ext cx="3977640" cy="640080"/>
          </a:xfrm>
          <a:prstGeom prst="rect">
            <a:avLst/>
          </a:prstGeom>
          <a:noFill/>
          <a:ln/>
        </p:spPr>
        <p:txBody>
          <a:bodyPr wrap="square" rtlCol="0" anchor="t"/>
          <a:lstStyle/>
          <a:p>
            <a:pPr indent="0" marL="0">
              <a:lnSpc>
                <a:spcPct val="110000"/>
              </a:lnSpc>
              <a:buNone/>
            </a:pPr>
            <a:r>
              <a:rPr lang="en-US" sz="1500" b="1" dirty="0">
                <a:solidFill>
                  <a:srgbClr val="1A1A2E"/>
                </a:solidFill>
                <a:latin typeface="Calibri" pitchFamily="34" charset="0"/>
                <a:ea typeface="Calibri" pitchFamily="34" charset="-122"/>
                <a:cs typeface="Calibri" pitchFamily="34" charset="-120"/>
              </a:rPr>
              <a:t>Multi-environment platforms</a:t>
            </a:r>
            <a:endParaRPr lang="en-US" sz="1500" dirty="0"/>
          </a:p>
        </p:txBody>
      </p:sp>
      <p:sp>
        <p:nvSpPr>
          <p:cNvPr id="22" name="Text 16"/>
          <p:cNvSpPr txBox="1"/>
          <p:nvPr/>
        </p:nvSpPr>
        <p:spPr>
          <a:xfrm>
            <a:off x="6537960" y="4937760"/>
            <a:ext cx="4800600" cy="822960"/>
          </a:xfrm>
          <a:prstGeom prst="rect">
            <a:avLst/>
          </a:prstGeom>
          <a:noFill/>
          <a:ln/>
        </p:spPr>
        <p:txBody>
          <a:bodyPr wrap="square" rtlCol="0" anchor="ctr"/>
          <a:lstStyle/>
          <a:p>
            <a:pPr indent="0" marL="0">
              <a:lnSpc>
                <a:spcPct val="120000"/>
              </a:lnSpc>
              <a:buNone/>
            </a:pPr>
            <a:r>
              <a:rPr lang="en-US" sz="1100" dirty="0">
                <a:solidFill>
                  <a:srgbClr val="5C6B8A"/>
                </a:solidFill>
                <a:latin typeface="Calibri" pitchFamily="34" charset="0"/>
                <a:ea typeface="Calibri" pitchFamily="34" charset="-122"/>
                <a:cs typeface="Calibri" pitchFamily="34" charset="-120"/>
              </a:rPr>
              <a:t>Each environment isolated at the network level, not just namespaced</a:t>
            </a:r>
            <a:endParaRPr lang="en-US" sz="1100" dirty="0"/>
          </a:p>
        </p:txBody>
      </p:sp>
      <p:sp>
        <p:nvSpPr>
          <p:cNvPr id="24" name="Text 1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C6B8A"/>
                </a:solidFill>
                <a:latin typeface="Calibri" pitchFamily="34" charset="0"/>
                <a:ea typeface="Calibri" pitchFamily="34" charset="-122"/>
                <a:cs typeface="Calibri" pitchFamily="34" charset="-120"/>
              </a:rPr>
              <a:t>Secure Kubernetes on Azure — Portfolio Showcase</a:t>
            </a:r>
            <a:endParaRPr lang="en-US" sz="900" dirty="0"/>
          </a:p>
        </p:txBody>
      </p:sp>
      <p:sp>
        <p:nvSpPr>
          <p:cNvPr id="25"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151B4A"/>
          </a:solidFill>
          <a:ln/>
        </p:spPr>
      </p:sp>
      <p:pic>
        <p:nvPicPr>
          <p:cNvPr id="3" name="Image 0" descr="preencoded.png">    </p:cNvPr>
          <p:cNvPicPr>
            <a:picLocks noChangeAspect="1"/>
          </p:cNvPicPr>
          <p:nvPr/>
        </p:nvPicPr>
        <p:blipFill>
          <a:blip r:embed="rId1"/>
          <a:stretch>
            <a:fillRect/>
          </a:stretch>
        </p:blipFill>
        <p:spPr>
          <a:xfrm>
            <a:off x="676656" y="585216"/>
            <a:ext cx="384048" cy="384048"/>
          </a:xfrm>
          <a:prstGeom prst="rect">
            <a:avLst/>
          </a:prstGeom>
        </p:spPr>
      </p:pic>
      <p:sp>
        <p:nvSpPr>
          <p:cNvPr id="4" name="Text 1"/>
          <p:cNvSpPr txBox="1"/>
          <p:nvPr/>
        </p:nvSpPr>
        <p:spPr>
          <a:xfrm>
            <a:off x="1371600" y="457200"/>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Proof, Not Just Claims</a:t>
            </a:r>
            <a:endParaRPr lang="en-US" sz="2800" dirty="0"/>
          </a:p>
        </p:txBody>
      </p:sp>
      <p:sp>
        <p:nvSpPr>
          <p:cNvPr id="5" name="Text 2"/>
          <p:cNvSpPr txBox="1"/>
          <p:nvPr/>
        </p:nvSpPr>
        <p:spPr>
          <a:xfrm>
            <a:off x="1371600" y="960120"/>
            <a:ext cx="91440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Everything below was captured from my own Azure tenant, not mocked up</a:t>
            </a:r>
            <a:endParaRPr lang="en-US" sz="1300" dirty="0"/>
          </a:p>
        </p:txBody>
      </p:sp>
      <p:sp>
        <p:nvSpPr>
          <p:cNvPr id="6" name="Shape 3"/>
          <p:cNvSpPr/>
          <p:nvPr/>
        </p:nvSpPr>
        <p:spPr>
          <a:xfrm>
            <a:off x="548640" y="1463040"/>
            <a:ext cx="3566160" cy="1783080"/>
          </a:xfrm>
          <a:prstGeom prst="roundRect">
            <a:avLst>
              <a:gd name="adj" fmla="val 4103"/>
            </a:avLst>
          </a:prstGeom>
          <a:solidFill>
            <a:srgbClr val="0E1235"/>
          </a:solidFill>
          <a:ln w="12700">
            <a:solidFill>
              <a:srgbClr val="2A3470"/>
            </a:solidFill>
            <a:prstDash val="solid"/>
          </a:ln>
        </p:spPr>
      </p:sp>
      <p:sp>
        <p:nvSpPr>
          <p:cNvPr id="7" name="Shape 4"/>
          <p:cNvSpPr/>
          <p:nvPr/>
        </p:nvSpPr>
        <p:spPr>
          <a:xfrm>
            <a:off x="713232" y="1609344"/>
            <a:ext cx="109728" cy="109728"/>
          </a:xfrm>
          <a:prstGeom prst="ellipse">
            <a:avLst/>
          </a:prstGeom>
          <a:solidFill>
            <a:srgbClr val="E4572E"/>
          </a:solidFill>
          <a:ln/>
        </p:spPr>
      </p:sp>
      <p:sp>
        <p:nvSpPr>
          <p:cNvPr id="8" name="Shape 5"/>
          <p:cNvSpPr/>
          <p:nvPr/>
        </p:nvSpPr>
        <p:spPr>
          <a:xfrm>
            <a:off x="896112" y="1609344"/>
            <a:ext cx="109728" cy="109728"/>
          </a:xfrm>
          <a:prstGeom prst="ellipse">
            <a:avLst/>
          </a:prstGeom>
          <a:solidFill>
            <a:srgbClr val="E8B71A"/>
          </a:solidFill>
          <a:ln/>
        </p:spPr>
      </p:sp>
      <p:sp>
        <p:nvSpPr>
          <p:cNvPr id="9" name="Shape 6"/>
          <p:cNvSpPr/>
          <p:nvPr/>
        </p:nvSpPr>
        <p:spPr>
          <a:xfrm>
            <a:off x="1078992" y="1609344"/>
            <a:ext cx="109728" cy="109728"/>
          </a:xfrm>
          <a:prstGeom prst="ellipse">
            <a:avLst/>
          </a:prstGeom>
          <a:solidFill>
            <a:srgbClr val="3DBE5C"/>
          </a:solidFill>
          <a:ln/>
        </p:spPr>
      </p:sp>
      <p:sp>
        <p:nvSpPr>
          <p:cNvPr id="10" name="Text 7"/>
          <p:cNvSpPr txBox="1"/>
          <p:nvPr/>
        </p:nvSpPr>
        <p:spPr>
          <a:xfrm>
            <a:off x="1280160" y="1527048"/>
            <a:ext cx="2651760" cy="274320"/>
          </a:xfrm>
          <a:prstGeom prst="rect">
            <a:avLst/>
          </a:prstGeom>
          <a:noFill/>
          <a:ln/>
        </p:spPr>
        <p:txBody>
          <a:bodyPr wrap="square" rtlCol="0" anchor="ctr"/>
          <a:lstStyle/>
          <a:p>
            <a:pPr indent="0" marL="0">
              <a:buNone/>
            </a:pPr>
            <a:r>
              <a:rPr lang="en-US" sz="950" dirty="0">
                <a:solidFill>
                  <a:srgbClr val="8891C0"/>
                </a:solidFill>
                <a:latin typeface="Calibri" pitchFamily="34" charset="0"/>
                <a:ea typeface="Calibri" pitchFamily="34" charset="-122"/>
                <a:cs typeface="Calibri" pitchFamily="34" charset="-120"/>
              </a:rPr>
              <a:t>curl — prod</a:t>
            </a:r>
            <a:endParaRPr lang="en-US" sz="950" dirty="0"/>
          </a:p>
        </p:txBody>
      </p:sp>
      <p:sp>
        <p:nvSpPr>
          <p:cNvPr id="11" name="Text 8"/>
          <p:cNvSpPr txBox="1"/>
          <p:nvPr/>
        </p:nvSpPr>
        <p:spPr>
          <a:xfrm>
            <a:off x="777240" y="1874520"/>
            <a:ext cx="3108960" cy="1234440"/>
          </a:xfrm>
          <a:prstGeom prst="rect">
            <a:avLst/>
          </a:prstGeom>
          <a:noFill/>
          <a:ln/>
        </p:spPr>
        <p:txBody>
          <a:bodyPr wrap="square" rtlCol="0" anchor="ctr"/>
          <a:lstStyle/>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HTTP/1.1 200 OK</a:t>
            </a: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Server: nginx/1.27.5</a:t>
            </a:r>
            <a:endParaRPr lang="en-US" sz="1000" dirty="0"/>
          </a:p>
          <a:p>
            <a:pPr indent="0" marL="0">
              <a:lnSpc>
                <a:spcPct val="125000"/>
              </a:lnSpc>
              <a:buNone/>
            </a:pP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 curl .../healthz</a:t>
            </a: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ok</a:t>
            </a:r>
            <a:endParaRPr lang="en-US" sz="1000" dirty="0"/>
          </a:p>
        </p:txBody>
      </p:sp>
      <p:sp>
        <p:nvSpPr>
          <p:cNvPr id="12" name="Shape 9"/>
          <p:cNvSpPr/>
          <p:nvPr/>
        </p:nvSpPr>
        <p:spPr>
          <a:xfrm>
            <a:off x="4343400" y="1463040"/>
            <a:ext cx="3566160" cy="1783080"/>
          </a:xfrm>
          <a:prstGeom prst="roundRect">
            <a:avLst>
              <a:gd name="adj" fmla="val 4103"/>
            </a:avLst>
          </a:prstGeom>
          <a:solidFill>
            <a:srgbClr val="0E1235"/>
          </a:solidFill>
          <a:ln w="12700">
            <a:solidFill>
              <a:srgbClr val="2A3470"/>
            </a:solidFill>
            <a:prstDash val="solid"/>
          </a:ln>
        </p:spPr>
      </p:sp>
      <p:sp>
        <p:nvSpPr>
          <p:cNvPr id="13" name="Shape 10"/>
          <p:cNvSpPr/>
          <p:nvPr/>
        </p:nvSpPr>
        <p:spPr>
          <a:xfrm>
            <a:off x="4507992" y="1609344"/>
            <a:ext cx="109728" cy="109728"/>
          </a:xfrm>
          <a:prstGeom prst="ellipse">
            <a:avLst/>
          </a:prstGeom>
          <a:solidFill>
            <a:srgbClr val="E4572E"/>
          </a:solidFill>
          <a:ln/>
        </p:spPr>
      </p:sp>
      <p:sp>
        <p:nvSpPr>
          <p:cNvPr id="14" name="Shape 11"/>
          <p:cNvSpPr/>
          <p:nvPr/>
        </p:nvSpPr>
        <p:spPr>
          <a:xfrm>
            <a:off x="4690872" y="1609344"/>
            <a:ext cx="109728" cy="109728"/>
          </a:xfrm>
          <a:prstGeom prst="ellipse">
            <a:avLst/>
          </a:prstGeom>
          <a:solidFill>
            <a:srgbClr val="E8B71A"/>
          </a:solidFill>
          <a:ln/>
        </p:spPr>
      </p:sp>
      <p:sp>
        <p:nvSpPr>
          <p:cNvPr id="15" name="Shape 12"/>
          <p:cNvSpPr/>
          <p:nvPr/>
        </p:nvSpPr>
        <p:spPr>
          <a:xfrm>
            <a:off x="4873752" y="1609344"/>
            <a:ext cx="109728" cy="109728"/>
          </a:xfrm>
          <a:prstGeom prst="ellipse">
            <a:avLst/>
          </a:prstGeom>
          <a:solidFill>
            <a:srgbClr val="3DBE5C"/>
          </a:solidFill>
          <a:ln/>
        </p:spPr>
      </p:sp>
      <p:sp>
        <p:nvSpPr>
          <p:cNvPr id="16" name="Text 13"/>
          <p:cNvSpPr txBox="1"/>
          <p:nvPr/>
        </p:nvSpPr>
        <p:spPr>
          <a:xfrm>
            <a:off x="5074920" y="1527048"/>
            <a:ext cx="2651760" cy="274320"/>
          </a:xfrm>
          <a:prstGeom prst="rect">
            <a:avLst/>
          </a:prstGeom>
          <a:noFill/>
          <a:ln/>
        </p:spPr>
        <p:txBody>
          <a:bodyPr wrap="square" rtlCol="0" anchor="ctr"/>
          <a:lstStyle/>
          <a:p>
            <a:pPr indent="0" marL="0">
              <a:buNone/>
            </a:pPr>
            <a:r>
              <a:rPr lang="en-US" sz="950" dirty="0">
                <a:solidFill>
                  <a:srgbClr val="8891C0"/>
                </a:solidFill>
                <a:latin typeface="Calibri" pitchFamily="34" charset="0"/>
                <a:ea typeface="Calibri" pitchFamily="34" charset="-122"/>
                <a:cs typeface="Calibri" pitchFamily="34" charset="-120"/>
              </a:rPr>
              <a:t>kubectl get pods — prod</a:t>
            </a:r>
            <a:endParaRPr lang="en-US" sz="950" dirty="0"/>
          </a:p>
        </p:txBody>
      </p:sp>
      <p:sp>
        <p:nvSpPr>
          <p:cNvPr id="17" name="Text 14"/>
          <p:cNvSpPr txBox="1"/>
          <p:nvPr/>
        </p:nvSpPr>
        <p:spPr>
          <a:xfrm>
            <a:off x="4572000" y="1874520"/>
            <a:ext cx="3108960" cy="1234440"/>
          </a:xfrm>
          <a:prstGeom prst="rect">
            <a:avLst/>
          </a:prstGeom>
          <a:noFill/>
          <a:ln/>
        </p:spPr>
        <p:txBody>
          <a:bodyPr wrap="square" rtlCol="0" anchor="ctr"/>
          <a:lstStyle/>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demo-web-ccc969478-8cmfs</a:t>
            </a: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  1/1  Running</a:t>
            </a: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demo-web-ccc969478-lmgm2</a:t>
            </a: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  1/1  Running</a:t>
            </a:r>
            <a:endParaRPr lang="en-US" sz="1000" dirty="0"/>
          </a:p>
        </p:txBody>
      </p:sp>
      <p:sp>
        <p:nvSpPr>
          <p:cNvPr id="18" name="Shape 15"/>
          <p:cNvSpPr/>
          <p:nvPr/>
        </p:nvSpPr>
        <p:spPr>
          <a:xfrm>
            <a:off x="8138160" y="1463040"/>
            <a:ext cx="3502152" cy="1783080"/>
          </a:xfrm>
          <a:prstGeom prst="roundRect">
            <a:avLst>
              <a:gd name="adj" fmla="val 4103"/>
            </a:avLst>
          </a:prstGeom>
          <a:solidFill>
            <a:srgbClr val="0E1235"/>
          </a:solidFill>
          <a:ln w="12700">
            <a:solidFill>
              <a:srgbClr val="2A3470"/>
            </a:solidFill>
            <a:prstDash val="solid"/>
          </a:ln>
        </p:spPr>
      </p:sp>
      <p:sp>
        <p:nvSpPr>
          <p:cNvPr id="19" name="Shape 16"/>
          <p:cNvSpPr/>
          <p:nvPr/>
        </p:nvSpPr>
        <p:spPr>
          <a:xfrm>
            <a:off x="8302752" y="1609344"/>
            <a:ext cx="109728" cy="109728"/>
          </a:xfrm>
          <a:prstGeom prst="ellipse">
            <a:avLst/>
          </a:prstGeom>
          <a:solidFill>
            <a:srgbClr val="E4572E"/>
          </a:solidFill>
          <a:ln/>
        </p:spPr>
      </p:sp>
      <p:sp>
        <p:nvSpPr>
          <p:cNvPr id="20" name="Shape 17"/>
          <p:cNvSpPr/>
          <p:nvPr/>
        </p:nvSpPr>
        <p:spPr>
          <a:xfrm>
            <a:off x="8485632" y="1609344"/>
            <a:ext cx="109728" cy="109728"/>
          </a:xfrm>
          <a:prstGeom prst="ellipse">
            <a:avLst/>
          </a:prstGeom>
          <a:solidFill>
            <a:srgbClr val="E8B71A"/>
          </a:solidFill>
          <a:ln/>
        </p:spPr>
      </p:sp>
      <p:sp>
        <p:nvSpPr>
          <p:cNvPr id="21" name="Shape 18"/>
          <p:cNvSpPr/>
          <p:nvPr/>
        </p:nvSpPr>
        <p:spPr>
          <a:xfrm>
            <a:off x="8668512" y="1609344"/>
            <a:ext cx="109728" cy="109728"/>
          </a:xfrm>
          <a:prstGeom prst="ellipse">
            <a:avLst/>
          </a:prstGeom>
          <a:solidFill>
            <a:srgbClr val="3DBE5C"/>
          </a:solidFill>
          <a:ln/>
        </p:spPr>
      </p:sp>
      <p:sp>
        <p:nvSpPr>
          <p:cNvPr id="22" name="Text 19"/>
          <p:cNvSpPr txBox="1"/>
          <p:nvPr/>
        </p:nvSpPr>
        <p:spPr>
          <a:xfrm>
            <a:off x="8869680" y="1527048"/>
            <a:ext cx="2587752" cy="274320"/>
          </a:xfrm>
          <a:prstGeom prst="rect">
            <a:avLst/>
          </a:prstGeom>
          <a:noFill/>
          <a:ln/>
        </p:spPr>
        <p:txBody>
          <a:bodyPr wrap="square" rtlCol="0" anchor="ctr"/>
          <a:lstStyle/>
          <a:p>
            <a:pPr indent="0" marL="0">
              <a:buNone/>
            </a:pPr>
            <a:r>
              <a:rPr lang="en-US" sz="950" dirty="0">
                <a:solidFill>
                  <a:srgbClr val="8891C0"/>
                </a:solidFill>
                <a:latin typeface="Calibri" pitchFamily="34" charset="0"/>
                <a:ea typeface="Calibri" pitchFamily="34" charset="-122"/>
                <a:cs typeface="Calibri" pitchFamily="34" charset="-120"/>
              </a:rPr>
              <a:t>App Gateway backend health</a:t>
            </a:r>
            <a:endParaRPr lang="en-US" sz="950" dirty="0"/>
          </a:p>
        </p:txBody>
      </p:sp>
      <p:sp>
        <p:nvSpPr>
          <p:cNvPr id="23" name="Text 20"/>
          <p:cNvSpPr txBox="1"/>
          <p:nvPr/>
        </p:nvSpPr>
        <p:spPr>
          <a:xfrm>
            <a:off x="8366760" y="1874520"/>
            <a:ext cx="3044952" cy="1234440"/>
          </a:xfrm>
          <a:prstGeom prst="rect">
            <a:avLst/>
          </a:prstGeom>
          <a:noFill/>
          <a:ln/>
        </p:spPr>
        <p:txBody>
          <a:bodyPr wrap="square" rtlCol="0" anchor="ctr"/>
          <a:lstStyle/>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10.31.0.103   Healthy</a:t>
            </a: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10.31.0.136   Healthy</a:t>
            </a:r>
            <a:endParaRPr lang="en-US" sz="1000" dirty="0"/>
          </a:p>
          <a:p>
            <a:pPr indent="0" marL="0">
              <a:lnSpc>
                <a:spcPct val="125000"/>
              </a:lnSpc>
              <a:buNone/>
            </a:pPr>
            <a:endParaRPr lang="en-US" sz="1000" dirty="0"/>
          </a:p>
          <a:p>
            <a:pPr indent="0" marL="0">
              <a:lnSpc>
                <a:spcPct val="125000"/>
              </a:lnSpc>
              <a:buNone/>
            </a:pPr>
            <a:r>
              <a:rPr lang="en-US" sz="1000" dirty="0">
                <a:solidFill>
                  <a:srgbClr val="00D9C0"/>
                </a:solidFill>
                <a:latin typeface="Courier New" pitchFamily="34" charset="0"/>
                <a:ea typeface="Courier New" pitchFamily="34" charset="-122"/>
                <a:cs typeface="Courier New" pitchFamily="34" charset="-120"/>
              </a:rPr>
              <a:t>(both environments)</a:t>
            </a:r>
            <a:endParaRPr lang="en-US" sz="1000" dirty="0"/>
          </a:p>
        </p:txBody>
      </p:sp>
      <p:pic>
        <p:nvPicPr>
          <p:cNvPr id="24" name="Image 1" descr="/tmp/claude-1000/-home-sufideen--config-Claude-scratch-workspaces-3637d91f-12c3-4b41-8698-1a9b1c090587-8dbdcacd-85cb-4266-9c51-29022c3bf154-scratch-2026-09-19-0422a7/b88270b6-1dec-4e78-9e04-de6497b56a14/scratchpad/pub/az-ent-sec-dashboard/scripts/slide-deck/assets/prod-nodes-ready.png">    </p:cNvPr>
          <p:cNvPicPr>
            <a:picLocks noChangeAspect="1"/>
          </p:cNvPicPr>
          <p:nvPr/>
        </p:nvPicPr>
        <p:blipFill>
          <a:blip r:embed="rId2"/>
          <a:stretch>
            <a:fillRect/>
          </a:stretch>
        </p:blipFill>
        <p:spPr>
          <a:xfrm>
            <a:off x="548640" y="3520440"/>
            <a:ext cx="7223760" cy="843164"/>
          </a:xfrm>
          <a:prstGeom prst="rect">
            <a:avLst/>
          </a:prstGeom>
        </p:spPr>
      </p:pic>
      <p:sp>
        <p:nvSpPr>
          <p:cNvPr id="25" name="Text 21"/>
          <p:cNvSpPr txBox="1"/>
          <p:nvPr/>
        </p:nvSpPr>
        <p:spPr>
          <a:xfrm>
            <a:off x="548640" y="4409324"/>
            <a:ext cx="7223760" cy="274320"/>
          </a:xfrm>
          <a:prstGeom prst="rect">
            <a:avLst/>
          </a:prstGeom>
          <a:noFill/>
          <a:ln/>
        </p:spPr>
        <p:txBody>
          <a:bodyPr wrap="square" rtlCol="0" anchor="ctr"/>
          <a:lstStyle/>
          <a:p>
            <a:pPr indent="0" marL="0">
              <a:buNone/>
            </a:pPr>
            <a:r>
              <a:rPr lang="en-US" sz="950" i="1" dirty="0">
                <a:solidFill>
                  <a:srgbClr val="8891C0"/>
                </a:solidFill>
                <a:latin typeface="Calibri" pitchFamily="34" charset="0"/>
                <a:ea typeface="Calibri" pitchFamily="34" charset="-122"/>
                <a:cs typeface="Calibri" pitchFamily="34" charset="-120"/>
              </a:rPr>
              <a:t>kubectl get nodes on prod, run through az aks command invoke: 3 system and 2 user nodes, all Ready</a:t>
            </a:r>
            <a:endParaRPr lang="en-US" sz="950" dirty="0"/>
          </a:p>
        </p:txBody>
      </p:sp>
      <p:pic>
        <p:nvPicPr>
          <p:cNvPr id="26" name="Image 2" descr="/tmp/claude-1000/-home-sufideen--config-Claude-scratch-workspaces-3637d91f-12c3-4b41-8698-1a9b1c090587-8dbdcacd-85cb-4266-9c51-29022c3bf154-scratch-2026-09-19-0422a7/b88270b6-1dec-4e78-9e04-de6497b56a14/scratchpad/pub/az-ent-sec-dashboard/scripts/slide-deck/assets/resource-groups-crop.png">    </p:cNvPr>
          <p:cNvPicPr>
            <a:picLocks noChangeAspect="1"/>
          </p:cNvPicPr>
          <p:nvPr/>
        </p:nvPicPr>
        <p:blipFill>
          <a:blip r:embed="rId3"/>
          <a:stretch>
            <a:fillRect/>
          </a:stretch>
        </p:blipFill>
        <p:spPr>
          <a:xfrm>
            <a:off x="548640" y="4846320"/>
            <a:ext cx="4572000" cy="960504"/>
          </a:xfrm>
          <a:prstGeom prst="rect">
            <a:avLst/>
          </a:prstGeom>
        </p:spPr>
      </p:pic>
      <p:sp>
        <p:nvSpPr>
          <p:cNvPr id="27" name="Text 22"/>
          <p:cNvSpPr txBox="1"/>
          <p:nvPr/>
        </p:nvSpPr>
        <p:spPr>
          <a:xfrm>
            <a:off x="5257800" y="5029200"/>
            <a:ext cx="2514600" cy="685800"/>
          </a:xfrm>
          <a:prstGeom prst="rect">
            <a:avLst/>
          </a:prstGeom>
          <a:noFill/>
          <a:ln/>
        </p:spPr>
        <p:txBody>
          <a:bodyPr wrap="square" rtlCol="0" anchor="t"/>
          <a:lstStyle/>
          <a:p>
            <a:pPr indent="0" marL="0">
              <a:buNone/>
            </a:pPr>
            <a:r>
              <a:rPr lang="en-US" sz="950" i="1" dirty="0">
                <a:solidFill>
                  <a:srgbClr val="8891C0"/>
                </a:solidFill>
                <a:latin typeface="Calibri" pitchFamily="34" charset="0"/>
                <a:ea typeface="Calibri" pitchFamily="34" charset="-122"/>
                <a:cs typeface="Calibri" pitchFamily="34" charset="-120"/>
              </a:rPr>
              <a:t>Azure portal: dev and prod resource groups, plus the AKS-managed node groups</a:t>
            </a:r>
            <a:endParaRPr lang="en-US" sz="950" dirty="0"/>
          </a:p>
        </p:txBody>
      </p:sp>
      <p:sp>
        <p:nvSpPr>
          <p:cNvPr id="28" name="Shape 23"/>
          <p:cNvSpPr/>
          <p:nvPr/>
        </p:nvSpPr>
        <p:spPr>
          <a:xfrm>
            <a:off x="8092440" y="3520440"/>
            <a:ext cx="3547872" cy="2286000"/>
          </a:xfrm>
          <a:prstGeom prst="roundRect">
            <a:avLst>
              <a:gd name="adj" fmla="val 4000"/>
            </a:avLst>
          </a:prstGeom>
          <a:solidFill>
            <a:srgbClr val="151B4A"/>
          </a:solidFill>
          <a:ln/>
        </p:spPr>
      </p:sp>
      <p:sp>
        <p:nvSpPr>
          <p:cNvPr id="29" name="Text 24"/>
          <p:cNvSpPr txBox="1"/>
          <p:nvPr/>
        </p:nvSpPr>
        <p:spPr>
          <a:xfrm>
            <a:off x="8321040" y="3657600"/>
            <a:ext cx="310896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I'd point out</a:t>
            </a:r>
            <a:endParaRPr lang="en-US" sz="1300" dirty="0"/>
          </a:p>
        </p:txBody>
      </p:sp>
      <p:sp>
        <p:nvSpPr>
          <p:cNvPr id="30" name="Text 25"/>
          <p:cNvSpPr txBox="1"/>
          <p:nvPr/>
        </p:nvSpPr>
        <p:spPr>
          <a:xfrm>
            <a:off x="8321040" y="4023360"/>
            <a:ext cx="3108960" cy="1691640"/>
          </a:xfrm>
          <a:prstGeom prst="rect">
            <a:avLst/>
          </a:prstGeom>
          <a:noFill/>
          <a:ln/>
        </p:spPr>
        <p:txBody>
          <a:bodyPr wrap="square" rtlCol="0" anchor="ctr"/>
          <a:lstStyle/>
          <a:p>
            <a:pPr indent="0" marL="0">
              <a:lnSpc>
                <a:spcPct val="125000"/>
              </a:lnSpc>
              <a:buNone/>
            </a:pPr>
            <a:r>
              <a:rPr lang="en-US" sz="1050" dirty="0">
                <a:solidFill>
                  <a:srgbClr val="CADCFC"/>
                </a:solidFill>
                <a:latin typeface="Calibri" pitchFamily="34" charset="0"/>
                <a:ea typeface="Calibri" pitchFamily="34" charset="-122"/>
                <a:cs typeface="Calibri" pitchFamily="34" charset="-120"/>
              </a:rPr>
              <a:t>Both environments are live and separate. Twelve pieces of evidence are in the repo: node health, private DNS, pods, backend health, end-to-end curl and Defender inventory, for dev and prod.</a:t>
            </a:r>
            <a:endParaRPr lang="en-US" sz="1050" dirty="0"/>
          </a:p>
        </p:txBody>
      </p:sp>
      <p:sp>
        <p:nvSpPr>
          <p:cNvPr id="32" name="Text 2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8891C0"/>
                </a:solidFill>
                <a:latin typeface="Calibri" pitchFamily="34" charset="0"/>
                <a:ea typeface="Calibri" pitchFamily="34" charset="-122"/>
                <a:cs typeface="Calibri" pitchFamily="34" charset="-120"/>
              </a:rPr>
              <a:t>Secure Kubernetes on Azure — Portfolio Showcase</a:t>
            </a:r>
            <a:endParaRPr lang="en-US" sz="900" dirty="0"/>
          </a:p>
        </p:txBody>
      </p:sp>
      <p:sp>
        <p:nvSpPr>
          <p:cNvPr id="33" name="Text 2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891C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637276" y="640080"/>
            <a:ext cx="914400" cy="914400"/>
          </a:xfrm>
          <a:prstGeom prst="ellipse">
            <a:avLst/>
          </a:prstGeom>
          <a:solidFill>
            <a:srgbClr val="151B4A"/>
          </a:solidFill>
          <a:ln/>
        </p:spPr>
      </p:sp>
      <p:pic>
        <p:nvPicPr>
          <p:cNvPr id="3" name="Image 0" descr="preencoded.png">    </p:cNvPr>
          <p:cNvPicPr>
            <a:picLocks noChangeAspect="1"/>
          </p:cNvPicPr>
          <p:nvPr/>
        </p:nvPicPr>
        <p:blipFill>
          <a:blip r:embed="rId1"/>
          <a:stretch>
            <a:fillRect/>
          </a:stretch>
        </p:blipFill>
        <p:spPr>
          <a:xfrm>
            <a:off x="5843016" y="845820"/>
            <a:ext cx="502920" cy="502920"/>
          </a:xfrm>
          <a:prstGeom prst="rect">
            <a:avLst/>
          </a:prstGeom>
        </p:spPr>
      </p:pic>
      <p:sp>
        <p:nvSpPr>
          <p:cNvPr id="4" name="Text 1"/>
          <p:cNvSpPr txBox="1"/>
          <p:nvPr/>
        </p:nvSpPr>
        <p:spPr>
          <a:xfrm>
            <a:off x="731520" y="1828800"/>
            <a:ext cx="10725912" cy="73152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Let's Talk</a:t>
            </a:r>
            <a:endParaRPr lang="en-US" sz="3600" dirty="0"/>
          </a:p>
        </p:txBody>
      </p:sp>
      <p:sp>
        <p:nvSpPr>
          <p:cNvPr id="5" name="Text 2"/>
          <p:cNvSpPr txBox="1"/>
          <p:nvPr/>
        </p:nvSpPr>
        <p:spPr>
          <a:xfrm>
            <a:off x="2802636" y="2788920"/>
            <a:ext cx="6583680" cy="1737360"/>
          </a:xfrm>
          <a:prstGeom prst="rect">
            <a:avLst/>
          </a:prstGeom>
          <a:noFill/>
          <a:ln/>
        </p:spPr>
        <p:txBody>
          <a:bodyPr wrap="square" rtlCol="0" anchor="ctr"/>
          <a:lstStyle/>
          <a:p>
            <a:pPr algn="l"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Private AKS + Azure networking design</a:t>
            </a:r>
            <a:endParaRPr lang="en-US" sz="1400" dirty="0"/>
          </a:p>
          <a:p>
            <a:pPr algn="l"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Zero-secret CI/CD with OIDC federation</a:t>
            </a:r>
            <a:endParaRPr lang="en-US" sz="1400" dirty="0"/>
          </a:p>
          <a:p>
            <a:pPr algn="l"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Live production incident diagnosis</a:t>
            </a:r>
            <a:endParaRPr lang="en-US" sz="1400" dirty="0"/>
          </a:p>
          <a:p>
            <a:pPr algn="l"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Infrastructure as Code (Bicep) at scale</a:t>
            </a:r>
            <a:endParaRPr lang="en-US" sz="1400" dirty="0"/>
          </a:p>
        </p:txBody>
      </p:sp>
      <p:sp>
        <p:nvSpPr>
          <p:cNvPr id="6" name="Shape 3"/>
          <p:cNvSpPr/>
          <p:nvPr/>
        </p:nvSpPr>
        <p:spPr>
          <a:xfrm>
            <a:off x="4265676" y="4709160"/>
            <a:ext cx="3657600" cy="0"/>
          </a:xfrm>
          <a:prstGeom prst="line">
            <a:avLst/>
          </a:prstGeom>
          <a:noFill/>
          <a:ln w="12700">
            <a:solidFill>
              <a:srgbClr val="3B4590"/>
            </a:solidFill>
            <a:prstDash val="solid"/>
          </a:ln>
        </p:spPr>
      </p:sp>
      <p:sp>
        <p:nvSpPr>
          <p:cNvPr id="7" name="Text 4"/>
          <p:cNvSpPr txBox="1"/>
          <p:nvPr/>
        </p:nvSpPr>
        <p:spPr>
          <a:xfrm>
            <a:off x="731520" y="4892040"/>
            <a:ext cx="10725912"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Sufyan Deen-Gabisi</a:t>
            </a:r>
            <a:endParaRPr lang="en-US" sz="1500" dirty="0"/>
          </a:p>
        </p:txBody>
      </p:sp>
      <p:sp>
        <p:nvSpPr>
          <p:cNvPr id="8" name="Text 5"/>
          <p:cNvSpPr txBox="1"/>
          <p:nvPr/>
        </p:nvSpPr>
        <p:spPr>
          <a:xfrm>
            <a:off x="731520" y="5257800"/>
            <a:ext cx="10725912" cy="320040"/>
          </a:xfrm>
          <a:prstGeom prst="rect">
            <a:avLst/>
          </a:prstGeom>
          <a:noFill/>
          <a:ln/>
        </p:spPr>
        <p:txBody>
          <a:bodyPr wrap="square" rtlCol="0" anchor="ctr"/>
          <a:lstStyle/>
          <a:p>
            <a:pPr algn="ctr" indent="0" marL="0">
              <a:buNone/>
            </a:pPr>
            <a:r>
              <a:rPr lang="en-US" sz="1200" dirty="0">
                <a:solidFill>
                  <a:srgbClr val="00D9C0"/>
                </a:solidFill>
                <a:latin typeface="Calibri" pitchFamily="34" charset="0"/>
                <a:ea typeface="Calibri" pitchFamily="34" charset="-122"/>
                <a:cs typeface="Calibri" pitchFamily="34" charset="-120"/>
              </a:rPr>
              <a:t>github.com/sufideen/az-ent-sec-dashboard</a:t>
            </a:r>
            <a:endParaRPr lang="en-US" sz="1200" dirty="0"/>
          </a:p>
        </p:txBody>
      </p:sp>
      <p:sp>
        <p:nvSpPr>
          <p:cNvPr id="9" name="Text 6"/>
          <p:cNvSpPr txBox="1"/>
          <p:nvPr/>
        </p:nvSpPr>
        <p:spPr>
          <a:xfrm>
            <a:off x="731520" y="5623560"/>
            <a:ext cx="10725912" cy="320040"/>
          </a:xfrm>
          <a:prstGeom prst="rect">
            <a:avLst/>
          </a:prstGeom>
          <a:noFill/>
          <a:ln/>
        </p:spPr>
        <p:txBody>
          <a:bodyPr wrap="square" rtlCol="0" anchor="ctr"/>
          <a:lstStyle/>
          <a:p>
            <a:pPr algn="ctr" indent="0" marL="0">
              <a:buNone/>
            </a:pPr>
            <a:r>
              <a:rPr lang="en-US" sz="1050" dirty="0">
                <a:solidFill>
                  <a:srgbClr val="8891C0"/>
                </a:solidFill>
                <a:latin typeface="Calibri" pitchFamily="34" charset="0"/>
                <a:ea typeface="Calibri" pitchFamily="34" charset="-122"/>
                <a:cs typeface="Calibri" pitchFamily="34" charset="-120"/>
              </a:rPr>
              <a:t>The full write-up, evidence and runbook are in the docs/ folder of the repository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2026-09-19T14:49:30Z</dcterms:created>
  <dcterms:modified xsi:type="dcterms:W3CDTF">2026-09-19T14:49:30Z</dcterms:modified>
</cp:coreProperties>
</file>